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2BA59-E44F-48CE-82A7-DB02BBA680CB}" v="1630" dt="2026-08-31T13:13:39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616285-88EC-B147-96CB-46833F6A1D18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B4057-1C57-744F-8E36-50B0B6F36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8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user_guide.html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www.nabard.org/Publication.aspx?cid=50&amp;csrt=17113928875636088101&amp;id=24" TargetMode="External"/><Relationship Id="rId7" Type="http://schemas.openxmlformats.org/officeDocument/2006/relationships/hyperlink" Target="https://react.dev/" TargetMode="External"/><Relationship Id="rId12" Type="http://schemas.openxmlformats.org/officeDocument/2006/relationships/hyperlink" Target="https://www.openstreetmap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am.gov.in/" TargetMode="External"/><Relationship Id="rId11" Type="http://schemas.openxmlformats.org/officeDocument/2006/relationships/hyperlink" Target="https://www.postgresql.org/docs/" TargetMode="External"/><Relationship Id="rId5" Type="http://schemas.openxmlformats.org/officeDocument/2006/relationships/hyperlink" Target="https://epubs.icar.org.in/index.php/IJAgS/article/view/127701" TargetMode="External"/><Relationship Id="rId10" Type="http://schemas.openxmlformats.org/officeDocument/2006/relationships/hyperlink" Target="https://razorpay.com/docs/payments/" TargetMode="External"/><Relationship Id="rId4" Type="http://schemas.openxmlformats.org/officeDocument/2006/relationships/hyperlink" Target="https://epubs.icar.org.in/index.php/IndFarm/article/view/118471" TargetMode="External"/><Relationship Id="rId9" Type="http://schemas.openxmlformats.org/officeDocument/2006/relationships/hyperlink" Target="https://fastapi.tiangol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" y="256032"/>
            <a:ext cx="8046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2900" dirty="0"/>
          </a:p>
        </p:txBody>
      </p:sp>
      <p:pic>
        <p:nvPicPr>
          <p:cNvPr id="3" name="Image 0" descr="/mnt/data/sih_top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6459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05872" y="173736"/>
            <a:ext cx="1051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</a:t>
            </a:r>
            <a:endParaRPr lang="en-US" sz="1100" dirty="0"/>
          </a:p>
          <a:p>
            <a:pPr marL="0" indent="0" algn="l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1100" dirty="0"/>
          </a:p>
          <a:p>
            <a:pPr marL="0" indent="0" algn="l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pic>
        <p:nvPicPr>
          <p:cNvPr id="5" name="Image 1" descr="/mnt/data/sih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676" y="1134437"/>
            <a:ext cx="4069080" cy="4617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93392" y="1133856"/>
            <a:ext cx="3474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Farm to Buyer, Direct &amp;</a:t>
            </a:r>
            <a:endParaRPr lang="en-US" sz="2050" dirty="0"/>
          </a:p>
          <a:p>
            <a:pPr marL="0" indent="0" algn="ctr">
              <a:buNone/>
            </a:pPr>
            <a:r>
              <a:rPr lang="en-US" sz="20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</a:t>
            </a:r>
            <a:endParaRPr lang="en-US" sz="2050" dirty="0"/>
          </a:p>
        </p:txBody>
      </p:sp>
      <p:sp>
        <p:nvSpPr>
          <p:cNvPr id="7" name="Shape 3"/>
          <p:cNvSpPr/>
          <p:nvPr/>
        </p:nvSpPr>
        <p:spPr>
          <a:xfrm>
            <a:off x="502920" y="841248"/>
            <a:ext cx="1005840" cy="100584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6E4B9E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67512" y="1170432"/>
            <a:ext cx="685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SINISTER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2221992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" y="2157984"/>
            <a:ext cx="1417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ID-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596896" y="2157984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SIH26033</a:t>
            </a:r>
            <a:endParaRPr lang="en-US" sz="1060" dirty="0"/>
          </a:p>
        </p:txBody>
      </p:sp>
      <p:sp>
        <p:nvSpPr>
          <p:cNvPr id="12" name="Shape 8"/>
          <p:cNvSpPr/>
          <p:nvPr/>
        </p:nvSpPr>
        <p:spPr>
          <a:xfrm>
            <a:off x="502920" y="2770632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58952" y="2706624"/>
            <a:ext cx="1417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Title-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96896" y="2706624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Farmer-to-Consumer Digital Agri-</a:t>
            </a:r>
            <a:endParaRPr lang="en-US" sz="1040" dirty="0"/>
          </a:p>
          <a:p>
            <a:pPr marL="0" indent="0" algn="l">
              <a:buNone/>
            </a:pPr>
            <a:r>
              <a:rPr lang="en-US" sz="104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40" dirty="0"/>
          </a:p>
        </p:txBody>
      </p:sp>
      <p:sp>
        <p:nvSpPr>
          <p:cNvPr id="15" name="Shape 11"/>
          <p:cNvSpPr/>
          <p:nvPr/>
        </p:nvSpPr>
        <p:spPr>
          <a:xfrm>
            <a:off x="502920" y="3438144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" y="3374136"/>
            <a:ext cx="1417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Theme-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96896" y="3374136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Agriculture, FoodTech &amp; Rural Development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502920" y="3986784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58952" y="3922776"/>
            <a:ext cx="1417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Category-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596896" y="3922776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060" dirty="0"/>
          </a:p>
        </p:txBody>
      </p:sp>
      <p:sp>
        <p:nvSpPr>
          <p:cNvPr id="21" name="Shape 17"/>
          <p:cNvSpPr/>
          <p:nvPr/>
        </p:nvSpPr>
        <p:spPr>
          <a:xfrm>
            <a:off x="502920" y="4535424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58952" y="4471416"/>
            <a:ext cx="1417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ID-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596896" y="4471416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REGISTERED TEAM ID]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502920" y="5084064"/>
            <a:ext cx="64008" cy="6400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58952" y="5020056"/>
            <a:ext cx="1417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Name-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2596896" y="5020056"/>
            <a:ext cx="2834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SINISTER6</a:t>
            </a:r>
            <a:endParaRPr lang="en-US" sz="1060" dirty="0"/>
          </a:p>
        </p:txBody>
      </p:sp>
      <p:sp>
        <p:nvSpPr>
          <p:cNvPr id="27" name="Text 23"/>
          <p:cNvSpPr/>
          <p:nvPr/>
        </p:nvSpPr>
        <p:spPr>
          <a:xfrm>
            <a:off x="658368" y="5760720"/>
            <a:ext cx="46177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Marketplace • AI Fair Pricing • Trust • Logistics</a:t>
            </a:r>
            <a:endParaRPr lang="en-US" sz="1040" dirty="0"/>
          </a:p>
        </p:txBody>
      </p:sp>
      <p:sp>
        <p:nvSpPr>
          <p:cNvPr id="28" name="Shape 24"/>
          <p:cNvSpPr/>
          <p:nvPr/>
        </p:nvSpPr>
        <p:spPr>
          <a:xfrm>
            <a:off x="7482501" y="5925312"/>
            <a:ext cx="3456432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BD52D1B6-EA0A-B671-3EEA-0C1B32C79383}"/>
              </a:ext>
            </a:extLst>
          </p:cNvPr>
          <p:cNvGrpSpPr/>
          <p:nvPr/>
        </p:nvGrpSpPr>
        <p:grpSpPr>
          <a:xfrm>
            <a:off x="9699994" y="176686"/>
            <a:ext cx="2628294" cy="729488"/>
            <a:chOff x="9857232" y="164592"/>
            <a:chExt cx="1600200" cy="475488"/>
          </a:xfrm>
        </p:grpSpPr>
        <p:pic>
          <p:nvPicPr>
            <p:cNvPr id="4" name="Image 0" descr="/mnt/data/sih_top_icon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57232" y="164592"/>
              <a:ext cx="475488" cy="475488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10405872" y="173736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 INDIA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HACKATHON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2026</a:t>
              </a:r>
              <a:endParaRPr lang="en-US" sz="16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2761488" y="393192"/>
            <a:ext cx="6035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FARMER-TO-CONSUMER DIGITAL AGRI-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MARKETPLACE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539728" y="6547104"/>
            <a:ext cx="3291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E38E887-54C3-C21F-4CE3-48FA0CD9A8A8}"/>
              </a:ext>
            </a:extLst>
          </p:cNvPr>
          <p:cNvGrpSpPr/>
          <p:nvPr/>
        </p:nvGrpSpPr>
        <p:grpSpPr>
          <a:xfrm>
            <a:off x="82381" y="55105"/>
            <a:ext cx="1709722" cy="494687"/>
            <a:chOff x="82381" y="-5371"/>
            <a:chExt cx="1709722" cy="494687"/>
          </a:xfrm>
        </p:grpSpPr>
        <p:sp>
          <p:nvSpPr>
            <p:cNvPr id="50" name="Text 1">
              <a:extLst>
                <a:ext uri="{FF2B5EF4-FFF2-40B4-BE49-F238E27FC236}">
                  <a16:creationId xmlns:a16="http://schemas.microsoft.com/office/drawing/2014/main" id="{C2DFDD64-F107-CABF-C334-E9D4A0C070EC}"/>
                </a:ext>
              </a:extLst>
            </p:cNvPr>
            <p:cNvSpPr/>
            <p:nvPr/>
          </p:nvSpPr>
          <p:spPr>
            <a:xfrm>
              <a:off x="269288" y="-5371"/>
              <a:ext cx="1322976" cy="47935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B3F6B"/>
                  </a:solidFill>
                  <a:latin typeface="Times New Roman"/>
                  <a:cs typeface="Times New Roman"/>
                </a:rPr>
                <a:t>SINISTERSIX</a:t>
              </a:r>
              <a:endParaRPr lang="en-US" sz="1400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D4F6DE9-56BE-4D66-572E-1849DEB7978F}"/>
                </a:ext>
              </a:extLst>
            </p:cNvPr>
            <p:cNvSpPr/>
            <p:nvPr/>
          </p:nvSpPr>
          <p:spPr>
            <a:xfrm>
              <a:off x="82381" y="670"/>
              <a:ext cx="1709722" cy="48864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Google Shape;103;p2">
            <a:extLst>
              <a:ext uri="{FF2B5EF4-FFF2-40B4-BE49-F238E27FC236}">
                <a16:creationId xmlns:a16="http://schemas.microsoft.com/office/drawing/2014/main" id="{8750044A-0BF7-0FE6-E14A-F829636BD622}"/>
              </a:ext>
            </a:extLst>
          </p:cNvPr>
          <p:cNvSpPr txBox="1">
            <a:spLocks noGrp="1"/>
          </p:cNvSpPr>
          <p:nvPr/>
        </p:nvSpPr>
        <p:spPr>
          <a:xfrm>
            <a:off x="8701314" y="7287686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55" name="Google Shape;104;p2">
            <a:extLst>
              <a:ext uri="{FF2B5EF4-FFF2-40B4-BE49-F238E27FC236}">
                <a16:creationId xmlns:a16="http://schemas.microsoft.com/office/drawing/2014/main" id="{156483DC-FE93-B6AB-E3EC-7436EDE6B2D2}"/>
              </a:ext>
            </a:extLst>
          </p:cNvPr>
          <p:cNvSpPr txBox="1">
            <a:spLocks noGrp="1"/>
          </p:cNvSpPr>
          <p:nvPr/>
        </p:nvSpPr>
        <p:spPr>
          <a:xfrm>
            <a:off x="4611914" y="7287686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ED5214D-D4DF-36D8-C43E-9C81413BF817}"/>
              </a:ext>
            </a:extLst>
          </p:cNvPr>
          <p:cNvGrpSpPr/>
          <p:nvPr/>
        </p:nvGrpSpPr>
        <p:grpSpPr>
          <a:xfrm>
            <a:off x="133047" y="1143392"/>
            <a:ext cx="12055159" cy="3757185"/>
            <a:chOff x="-48382" y="1482059"/>
            <a:chExt cx="12055159" cy="3757185"/>
          </a:xfrm>
        </p:grpSpPr>
        <p:sp>
          <p:nvSpPr>
            <p:cNvPr id="56" name="Google Shape;102;p2">
              <a:extLst>
                <a:ext uri="{FF2B5EF4-FFF2-40B4-BE49-F238E27FC236}">
                  <a16:creationId xmlns:a16="http://schemas.microsoft.com/office/drawing/2014/main" id="{6E280D5D-D2F9-4492-0E9F-C94A3638E0AD}"/>
                </a:ext>
              </a:extLst>
            </p:cNvPr>
            <p:cNvSpPr txBox="1"/>
            <p:nvPr/>
          </p:nvSpPr>
          <p:spPr>
            <a:xfrm>
              <a:off x="-48382" y="1482059"/>
              <a:ext cx="5806967" cy="37548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>
                <a:buClr>
                  <a:schemeClr val="dk2"/>
                </a:buClr>
                <a:buSzPts val="3200"/>
              </a:pPr>
              <a:r>
                <a:rPr lang="en-US" b="1" u="sng">
                  <a:solidFill>
                    <a:srgbClr val="0F172A"/>
                  </a:solidFill>
                </a:rPr>
                <a:t>Understanding The Problem</a:t>
              </a:r>
              <a:endParaRPr lang="en-US" b="1" u="sng" dirty="0">
                <a:solidFill>
                  <a:srgbClr val="0F172A"/>
                </a:solidFill>
              </a:endParaRPr>
            </a:p>
            <a:p>
              <a:pPr>
                <a:buSzPts val="3200"/>
              </a:pPr>
              <a:endParaRPr lang="en-US" b="1" u="sng" dirty="0">
                <a:solidFill>
                  <a:srgbClr val="0F172A"/>
                </a:solidFill>
              </a:endParaRPr>
            </a:p>
            <a:p>
              <a:pPr marL="285750" indent="-285750">
                <a:buChar char="•"/>
              </a:pPr>
              <a:r>
                <a:rPr lang="en-US" b="1" dirty="0">
                  <a:solidFill>
                    <a:srgbClr val="0F172A"/>
                  </a:solidFill>
                </a:rPr>
                <a:t>Fragmented Intermediaries:</a:t>
              </a:r>
              <a:r>
                <a:rPr lang="en-US" dirty="0">
                  <a:solidFill>
                    <a:srgbClr val="1E293B"/>
                  </a:solidFill>
                </a:rPr>
                <a:t> Produce passes through </a:t>
              </a:r>
              <a:r>
                <a:rPr lang="en-US" b="1" dirty="0">
                  <a:solidFill>
                    <a:srgbClr val="DC2626"/>
                  </a:solidFill>
                </a:rPr>
                <a:t>4–6 middleman layers</a:t>
              </a:r>
              <a:r>
                <a:rPr lang="en-US" dirty="0">
                  <a:solidFill>
                    <a:srgbClr val="1E293B"/>
                  </a:solidFill>
                </a:rPr>
                <a:t> (aggregators, </a:t>
              </a:r>
              <a:r>
                <a:rPr lang="en-US" dirty="0" err="1">
                  <a:solidFill>
                    <a:srgbClr val="1E293B"/>
                  </a:solidFill>
                </a:rPr>
                <a:t>arhatiyas</a:t>
              </a:r>
              <a:r>
                <a:rPr lang="en-US" dirty="0">
                  <a:solidFill>
                    <a:srgbClr val="1E293B"/>
                  </a:solidFill>
                </a:rPr>
                <a:t>, wholesalers), draining value without contributing proportional utility.</a:t>
              </a:r>
              <a:endParaRPr lang="en-US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Low Farmer Realization:</a:t>
              </a:r>
              <a:r>
                <a:rPr lang="en-US">
                  <a:solidFill>
                    <a:srgbClr val="1E293B"/>
                  </a:solidFill>
                </a:rPr>
                <a:t> Farmers capture only </a:t>
              </a:r>
              <a:r>
                <a:rPr lang="en-US" b="1">
                  <a:solidFill>
                    <a:srgbClr val="DC2626"/>
                  </a:solidFill>
                </a:rPr>
                <a:t>30–35% of final consumer price</a:t>
              </a:r>
              <a:r>
                <a:rPr lang="en-US">
                  <a:solidFill>
                    <a:srgbClr val="1E293B"/>
                  </a:solidFill>
                </a:rPr>
                <a:t> for perishables (supported by NABARD/ICAR studies).</a:t>
              </a:r>
              <a:endParaRPr lang="en-US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Consumer Price Inflation:</a:t>
              </a:r>
              <a:r>
                <a:rPr lang="en-US">
                  <a:solidFill>
                    <a:srgbClr val="1E293B"/>
                  </a:solidFill>
                </a:rPr>
                <a:t> Consumers pay </a:t>
              </a:r>
              <a:r>
                <a:rPr lang="en-US" b="1">
                  <a:solidFill>
                    <a:srgbClr val="DC2626"/>
                  </a:solidFill>
                </a:rPr>
                <a:t>2–3x farm-gate price</a:t>
              </a:r>
              <a:r>
                <a:rPr lang="en-US">
                  <a:solidFill>
                    <a:srgbClr val="1E293B"/>
                  </a:solidFill>
                </a:rPr>
                <a:t> driven by cumulative intermediary margins and logistics inefficiencies.</a:t>
              </a:r>
              <a:endParaRPr lang="en-US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Opaque Price Discovery:</a:t>
              </a:r>
              <a:r>
                <a:rPr lang="en-US">
                  <a:solidFill>
                    <a:srgbClr val="1E293B"/>
                  </a:solidFill>
                </a:rPr>
                <a:t> Short shelf-life crops leave farmers vulnerable to </a:t>
              </a:r>
              <a:r>
                <a:rPr lang="en-US" b="1">
                  <a:solidFill>
                    <a:srgbClr val="DC2626"/>
                  </a:solidFill>
                </a:rPr>
                <a:t>distress selling and market manipulation</a:t>
              </a:r>
              <a:r>
                <a:rPr lang="en-US">
                  <a:solidFill>
                    <a:srgbClr val="1E293B"/>
                  </a:solidFill>
                </a:rPr>
                <a:t>.</a:t>
              </a:r>
              <a:endParaRPr lang="en-US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Trust &amp; Logistics Bottleneck:</a:t>
              </a:r>
              <a:r>
                <a:rPr lang="en-US">
                  <a:solidFill>
                    <a:srgbClr val="1E293B"/>
                  </a:solidFill>
                </a:rPr>
                <a:t> Absence of </a:t>
              </a:r>
              <a:r>
                <a:rPr lang="en-US" b="1">
                  <a:solidFill>
                    <a:srgbClr val="DC2626"/>
                  </a:solidFill>
                </a:rPr>
                <a:t>verified buyer networks and last-mile cold chain logistics</a:t>
              </a:r>
              <a:r>
                <a:rPr lang="en-US">
                  <a:solidFill>
                    <a:srgbClr val="1E293B"/>
                  </a:solidFill>
                </a:rPr>
                <a:t> prevents direct stranger-to-stranger trade.</a:t>
              </a:r>
              <a:endParaRPr lang="en-US"/>
            </a:p>
            <a:p>
              <a:pPr>
                <a:buSzPts val="3200"/>
              </a:pPr>
              <a:endParaRPr lang="en-US" b="1" u="sng" dirty="0">
                <a:solidFill>
                  <a:srgbClr val="0F172A"/>
                </a:solidFill>
              </a:endParaRPr>
            </a:p>
          </p:txBody>
        </p:sp>
        <p:sp>
          <p:nvSpPr>
            <p:cNvPr id="59" name="TextBox 2">
              <a:extLst>
                <a:ext uri="{FF2B5EF4-FFF2-40B4-BE49-F238E27FC236}">
                  <a16:creationId xmlns:a16="http://schemas.microsoft.com/office/drawing/2014/main" id="{19D57F68-2A84-296F-4065-FF5BA10A9E2F}"/>
                </a:ext>
              </a:extLst>
            </p:cNvPr>
            <p:cNvSpPr txBox="1"/>
            <p:nvPr/>
          </p:nvSpPr>
          <p:spPr>
            <a:xfrm>
              <a:off x="5761665" y="1484370"/>
              <a:ext cx="6245112" cy="3754874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b="1" u="sng">
                  <a:solidFill>
                    <a:srgbClr val="0F172A"/>
                  </a:solidFill>
                </a:rPr>
                <a:t>Our Solution</a:t>
              </a:r>
              <a:endParaRPr lang="en-US" b="1" u="sng" dirty="0">
                <a:solidFill>
                  <a:srgbClr val="0F172A"/>
                </a:solidFill>
              </a:endParaRPr>
            </a:p>
            <a:p>
              <a:endParaRPr lang="en-US" b="1" u="sng" dirty="0">
                <a:solidFill>
                  <a:srgbClr val="0F172A"/>
                </a:solidFill>
              </a:endParaRPr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Direct Digital Marketplace:</a:t>
              </a:r>
              <a:r>
                <a:rPr lang="en-US">
                  <a:solidFill>
                    <a:srgbClr val="1E293B"/>
                  </a:solidFill>
                </a:rPr>
                <a:t> Connects farmers directly to buyers via </a:t>
              </a:r>
              <a:r>
                <a:rPr lang="en-US" b="1">
                  <a:solidFill>
                    <a:srgbClr val="DC2626"/>
                  </a:solidFill>
                </a:rPr>
                <a:t>transparent e-commerce discovery</a:t>
              </a:r>
              <a:r>
                <a:rPr lang="en-US">
                  <a:solidFill>
                    <a:srgbClr val="1E293B"/>
                  </a:solidFill>
                </a:rPr>
                <a:t>, eliminating intermediary markups.</a:t>
              </a:r>
              <a:endParaRPr lang="en-US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AI-Driven Fair Pricing:</a:t>
              </a:r>
              <a:r>
                <a:rPr lang="en-US">
                  <a:solidFill>
                    <a:srgbClr val="1E293B"/>
                  </a:solidFill>
                </a:rPr>
                <a:t> Real-time market intelligence engine </a:t>
              </a:r>
              <a:r>
                <a:rPr lang="en-US" b="1">
                  <a:solidFill>
                    <a:srgbClr val="DC2626"/>
                  </a:solidFill>
                </a:rPr>
                <a:t>prevents distress sales and guarantees fair value</a:t>
              </a:r>
              <a:r>
                <a:rPr lang="en-US">
                  <a:solidFill>
                    <a:srgbClr val="1E293B"/>
                  </a:solidFill>
                </a:rPr>
                <a:t>.</a:t>
              </a:r>
              <a:endParaRPr lang="en-US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Verified Buyer Network:</a:t>
              </a:r>
              <a:r>
                <a:rPr lang="en-US">
                  <a:solidFill>
                    <a:srgbClr val="1E293B"/>
                  </a:solidFill>
                </a:rPr>
                <a:t> Builds digital trust and verification rails for </a:t>
              </a:r>
              <a:r>
                <a:rPr lang="en-US" b="1">
                  <a:solidFill>
                    <a:srgbClr val="DC2626"/>
                  </a:solidFill>
                </a:rPr>
                <a:t>secure high-value perishable transactions</a:t>
              </a:r>
              <a:r>
                <a:rPr lang="en-US">
                  <a:solidFill>
                    <a:srgbClr val="1E293B"/>
                  </a:solidFill>
                </a:rPr>
                <a:t>.</a:t>
              </a:r>
              <a:endParaRPr lang="en-US"/>
            </a:p>
            <a:p>
              <a:pPr marL="285750" indent="-285750">
                <a:buChar char="•"/>
              </a:pPr>
              <a:r>
                <a:rPr lang="en-US" b="1" dirty="0">
                  <a:solidFill>
                    <a:srgbClr val="0F172A"/>
                  </a:solidFill>
                </a:rPr>
                <a:t>Integrated Last-Mile Logistics:</a:t>
              </a:r>
              <a:r>
                <a:rPr lang="en-US" dirty="0">
                  <a:solidFill>
                    <a:srgbClr val="1E293B"/>
                  </a:solidFill>
                </a:rPr>
                <a:t> Solves key </a:t>
              </a:r>
              <a:r>
                <a:rPr lang="en-US" dirty="0" err="1">
                  <a:solidFill>
                    <a:srgbClr val="1E293B"/>
                  </a:solidFill>
                </a:rPr>
                <a:t>agri</a:t>
              </a:r>
              <a:r>
                <a:rPr lang="en-US" dirty="0">
                  <a:solidFill>
                    <a:srgbClr val="1E293B"/>
                  </a:solidFill>
                </a:rPr>
                <a:t>-tech challenges through </a:t>
              </a:r>
              <a:r>
                <a:rPr lang="en-US" b="1" dirty="0">
                  <a:solidFill>
                    <a:srgbClr val="DC2626"/>
                  </a:solidFill>
                </a:rPr>
                <a:t>end-to-end route optimization and order tracking</a:t>
              </a:r>
              <a:r>
                <a:rPr lang="en-US" dirty="0">
                  <a:solidFill>
                    <a:srgbClr val="1E293B"/>
                  </a:solidFill>
                </a:rPr>
                <a:t>.</a:t>
              </a:r>
              <a:endParaRPr lang="en-US" dirty="0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Existing Rail Integration:</a:t>
              </a:r>
              <a:r>
                <a:rPr lang="en-US">
                  <a:solidFill>
                    <a:srgbClr val="1E293B"/>
                  </a:solidFill>
                </a:rPr>
                <a:t> Leverages India's </a:t>
              </a:r>
              <a:r>
                <a:rPr lang="en-US" b="1">
                  <a:solidFill>
                    <a:srgbClr val="DC2626"/>
                  </a:solidFill>
                </a:rPr>
                <a:t>750M+ smartphones and rural UPI payments</a:t>
              </a:r>
              <a:r>
                <a:rPr lang="en-US">
                  <a:solidFill>
                    <a:srgbClr val="1E293B"/>
                  </a:solidFill>
                </a:rPr>
                <a:t> for rapid disintermediation.</a:t>
              </a:r>
              <a:endParaRPr lang="en-US" dirty="0"/>
            </a:p>
            <a:p>
              <a:pPr marL="285750" indent="-285750">
                <a:buChar char="•"/>
              </a:pPr>
              <a:r>
                <a:rPr lang="en-US" b="1">
                  <a:solidFill>
                    <a:srgbClr val="0F172A"/>
                  </a:solidFill>
                </a:rPr>
                <a:t>Hybrid Mandi Coexistence:</a:t>
              </a:r>
              <a:r>
                <a:rPr lang="en-US">
                  <a:solidFill>
                    <a:srgbClr val="1E293B"/>
                  </a:solidFill>
                </a:rPr>
                <a:t> Modernizes trade disintermediation </a:t>
              </a:r>
              <a:r>
                <a:rPr lang="en-US" b="1">
                  <a:solidFill>
                    <a:srgbClr val="DC2626"/>
                  </a:solidFill>
                </a:rPr>
                <a:t>without restricting traditional mandi access</a:t>
              </a:r>
              <a:r>
                <a:rPr lang="en-US">
                  <a:solidFill>
                    <a:srgbClr val="1E293B"/>
                  </a:solidFill>
                </a:rPr>
                <a:t> if desired.</a:t>
              </a:r>
              <a:endParaRPr lang="en-US" dirty="0"/>
            </a:p>
            <a:p>
              <a:endParaRPr lang="en-US" b="1" u="sng" dirty="0">
                <a:solidFill>
                  <a:srgbClr val="0F172A"/>
                </a:solidFill>
              </a:endParaRPr>
            </a:p>
            <a:p>
              <a:endParaRPr lang="en-US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027DA45-AEDB-4C57-1338-AEE9A81ACE54}"/>
              </a:ext>
            </a:extLst>
          </p:cNvPr>
          <p:cNvGrpSpPr/>
          <p:nvPr/>
        </p:nvGrpSpPr>
        <p:grpSpPr>
          <a:xfrm>
            <a:off x="875650" y="4890573"/>
            <a:ext cx="10448786" cy="739213"/>
            <a:chOff x="875648" y="4573210"/>
            <a:chExt cx="7050024" cy="739213"/>
          </a:xfrm>
        </p:grpSpPr>
        <p:sp>
          <p:nvSpPr>
            <p:cNvPr id="71" name="Shape 14">
              <a:extLst>
                <a:ext uri="{FF2B5EF4-FFF2-40B4-BE49-F238E27FC236}">
                  <a16:creationId xmlns:a16="http://schemas.microsoft.com/office/drawing/2014/main" id="{F61C9A39-91E7-5BBB-D300-2390349D4247}"/>
                </a:ext>
              </a:extLst>
            </p:cNvPr>
            <p:cNvSpPr/>
            <p:nvPr/>
          </p:nvSpPr>
          <p:spPr>
            <a:xfrm>
              <a:off x="1735184" y="5094418"/>
              <a:ext cx="548640" cy="0"/>
            </a:xfrm>
            <a:prstGeom prst="line">
              <a:avLst/>
            </a:prstGeom>
            <a:noFill/>
            <a:ln w="16510">
              <a:solidFill>
                <a:srgbClr val="168446"/>
              </a:solidFill>
              <a:prstDash val="soli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72" name="Shape 15">
              <a:extLst>
                <a:ext uri="{FF2B5EF4-FFF2-40B4-BE49-F238E27FC236}">
                  <a16:creationId xmlns:a16="http://schemas.microsoft.com/office/drawing/2014/main" id="{318038A2-A3BA-2DF7-23CB-404DD23D8B9C}"/>
                </a:ext>
              </a:extLst>
            </p:cNvPr>
            <p:cNvSpPr/>
            <p:nvPr/>
          </p:nvSpPr>
          <p:spPr>
            <a:xfrm>
              <a:off x="3198224" y="5094418"/>
              <a:ext cx="548640" cy="0"/>
            </a:xfrm>
            <a:prstGeom prst="line">
              <a:avLst/>
            </a:prstGeom>
            <a:noFill/>
            <a:ln w="16510">
              <a:solidFill>
                <a:srgbClr val="168446"/>
              </a:solidFill>
              <a:prstDash val="soli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73" name="Shape 16">
              <a:extLst>
                <a:ext uri="{FF2B5EF4-FFF2-40B4-BE49-F238E27FC236}">
                  <a16:creationId xmlns:a16="http://schemas.microsoft.com/office/drawing/2014/main" id="{32E65CE6-EE9C-A73E-62EB-8D4F5E6C745F}"/>
                </a:ext>
              </a:extLst>
            </p:cNvPr>
            <p:cNvSpPr/>
            <p:nvPr/>
          </p:nvSpPr>
          <p:spPr>
            <a:xfrm>
              <a:off x="4725272" y="5094418"/>
              <a:ext cx="548640" cy="0"/>
            </a:xfrm>
            <a:prstGeom prst="line">
              <a:avLst/>
            </a:prstGeom>
            <a:noFill/>
            <a:ln w="16510">
              <a:solidFill>
                <a:srgbClr val="168446"/>
              </a:solidFill>
              <a:prstDash val="soli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74" name="Shape 17">
              <a:extLst>
                <a:ext uri="{FF2B5EF4-FFF2-40B4-BE49-F238E27FC236}">
                  <a16:creationId xmlns:a16="http://schemas.microsoft.com/office/drawing/2014/main" id="{1E7E4079-93C6-0DAC-A0D9-524DF701696D}"/>
                </a:ext>
              </a:extLst>
            </p:cNvPr>
            <p:cNvSpPr/>
            <p:nvPr/>
          </p:nvSpPr>
          <p:spPr>
            <a:xfrm>
              <a:off x="6334616" y="5094418"/>
              <a:ext cx="548640" cy="0"/>
            </a:xfrm>
            <a:prstGeom prst="line">
              <a:avLst/>
            </a:prstGeom>
            <a:noFill/>
            <a:ln w="16510">
              <a:solidFill>
                <a:srgbClr val="168446"/>
              </a:solidFill>
              <a:prstDash val="soli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75" name="Shape 18">
              <a:extLst>
                <a:ext uri="{FF2B5EF4-FFF2-40B4-BE49-F238E27FC236}">
                  <a16:creationId xmlns:a16="http://schemas.microsoft.com/office/drawing/2014/main" id="{75B7E786-DC53-E571-BB26-DDD4AFDBB3A1}"/>
                </a:ext>
              </a:extLst>
            </p:cNvPr>
            <p:cNvSpPr/>
            <p:nvPr/>
          </p:nvSpPr>
          <p:spPr>
            <a:xfrm>
              <a:off x="881260" y="4573210"/>
              <a:ext cx="932688" cy="731520"/>
            </a:xfrm>
            <a:prstGeom prst="roundRect">
              <a:avLst>
                <a:gd name="adj" fmla="val 7500"/>
              </a:avLst>
            </a:prstGeom>
            <a:solidFill>
              <a:srgbClr val="EAF7ED"/>
            </a:solidFill>
            <a:ln w="11430">
              <a:solidFill>
                <a:srgbClr val="168446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76" name="Text 19">
              <a:extLst>
                <a:ext uri="{FF2B5EF4-FFF2-40B4-BE49-F238E27FC236}">
                  <a16:creationId xmlns:a16="http://schemas.microsoft.com/office/drawing/2014/main" id="{7D83212F-28C7-FD9F-6C33-DFA783F9678B}"/>
                </a:ext>
              </a:extLst>
            </p:cNvPr>
            <p:cNvSpPr/>
            <p:nvPr/>
          </p:nvSpPr>
          <p:spPr>
            <a:xfrm>
              <a:off x="875648" y="4719514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1200" b="1" dirty="0">
                  <a:solidFill>
                    <a:srgbClr val="168446"/>
                  </a:solidFill>
                  <a:latin typeface="Arial"/>
                  <a:cs typeface="Arial"/>
                </a:rPr>
                <a:t>FARMER / FPO</a:t>
              </a:r>
              <a:endParaRPr lang="en-US" sz="1200">
                <a:cs typeface="Arial"/>
              </a:endParaRPr>
            </a:p>
          </p:txBody>
        </p:sp>
        <p:sp>
          <p:nvSpPr>
            <p:cNvPr id="77" name="Text 20">
              <a:extLst>
                <a:ext uri="{FF2B5EF4-FFF2-40B4-BE49-F238E27FC236}">
                  <a16:creationId xmlns:a16="http://schemas.microsoft.com/office/drawing/2014/main" id="{D62002EF-D4D3-F4D0-1C4F-92765A507A22}"/>
                </a:ext>
              </a:extLst>
            </p:cNvPr>
            <p:cNvSpPr/>
            <p:nvPr/>
          </p:nvSpPr>
          <p:spPr>
            <a:xfrm>
              <a:off x="893936" y="4966402"/>
              <a:ext cx="786384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List </a:t>
              </a:r>
              <a:r>
                <a:rPr lang="en-US" sz="140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crop</a:t>
              </a:r>
              <a:endParaRPr lang="en-US" sz="1400" dirty="0" err="1">
                <a:cs typeface="Arial"/>
              </a:endParaRPr>
            </a:p>
          </p:txBody>
        </p:sp>
        <p:sp>
          <p:nvSpPr>
            <p:cNvPr id="78" name="Shape 21">
              <a:extLst>
                <a:ext uri="{FF2B5EF4-FFF2-40B4-BE49-F238E27FC236}">
                  <a16:creationId xmlns:a16="http://schemas.microsoft.com/office/drawing/2014/main" id="{9BBC90A2-25C7-0B10-7A21-3768E5AD44D4}"/>
                </a:ext>
              </a:extLst>
            </p:cNvPr>
            <p:cNvSpPr/>
            <p:nvPr/>
          </p:nvSpPr>
          <p:spPr>
            <a:xfrm>
              <a:off x="2283824" y="4573210"/>
              <a:ext cx="932688" cy="731520"/>
            </a:xfrm>
            <a:prstGeom prst="roundRect">
              <a:avLst>
                <a:gd name="adj" fmla="val 7500"/>
              </a:avLst>
            </a:prstGeom>
            <a:solidFill>
              <a:srgbClr val="EAF7ED"/>
            </a:solidFill>
            <a:ln w="11430">
              <a:solidFill>
                <a:srgbClr val="168446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79" name="Text 22">
              <a:extLst>
                <a:ext uri="{FF2B5EF4-FFF2-40B4-BE49-F238E27FC236}">
                  <a16:creationId xmlns:a16="http://schemas.microsoft.com/office/drawing/2014/main" id="{08B00B74-C580-0EFA-02AC-343D0ECD66E9}"/>
                </a:ext>
              </a:extLst>
            </p:cNvPr>
            <p:cNvSpPr/>
            <p:nvPr/>
          </p:nvSpPr>
          <p:spPr>
            <a:xfrm>
              <a:off x="2326593" y="4755800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168446"/>
                  </a:solidFill>
                  <a:latin typeface="Arial"/>
                  <a:ea typeface="Arial" pitchFamily="34" charset="-122"/>
                  <a:cs typeface="Arial"/>
                </a:rPr>
                <a:t>AI PRICING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80" name="Text 23">
              <a:extLst>
                <a:ext uri="{FF2B5EF4-FFF2-40B4-BE49-F238E27FC236}">
                  <a16:creationId xmlns:a16="http://schemas.microsoft.com/office/drawing/2014/main" id="{3BF1E3E7-8A2E-9B45-7672-ECCF5B38C6E9}"/>
                </a:ext>
              </a:extLst>
            </p:cNvPr>
            <p:cNvSpPr/>
            <p:nvPr/>
          </p:nvSpPr>
          <p:spPr>
            <a:xfrm>
              <a:off x="2356976" y="4966402"/>
              <a:ext cx="786384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Fair-price range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85400AC6-EF4D-4F8D-162E-E339DD26CE96}"/>
                </a:ext>
              </a:extLst>
            </p:cNvPr>
            <p:cNvSpPr/>
            <p:nvPr/>
          </p:nvSpPr>
          <p:spPr>
            <a:xfrm>
              <a:off x="3810872" y="4573210"/>
              <a:ext cx="932688" cy="731520"/>
            </a:xfrm>
            <a:prstGeom prst="roundRect">
              <a:avLst>
                <a:gd name="adj" fmla="val 7500"/>
              </a:avLst>
            </a:prstGeom>
            <a:solidFill>
              <a:srgbClr val="EAF7ED"/>
            </a:solidFill>
            <a:ln w="11430">
              <a:solidFill>
                <a:srgbClr val="168446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82" name="Text 25">
              <a:extLst>
                <a:ext uri="{FF2B5EF4-FFF2-40B4-BE49-F238E27FC236}">
                  <a16:creationId xmlns:a16="http://schemas.microsoft.com/office/drawing/2014/main" id="{20D91294-7796-D908-70C8-51F3C80E749E}"/>
                </a:ext>
              </a:extLst>
            </p:cNvPr>
            <p:cNvSpPr/>
            <p:nvPr/>
          </p:nvSpPr>
          <p:spPr>
            <a:xfrm>
              <a:off x="3865736" y="4719514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168446"/>
                  </a:solidFill>
                  <a:latin typeface="Arial"/>
                  <a:ea typeface="Arial" pitchFamily="34" charset="-122"/>
                  <a:cs typeface="Arial"/>
                </a:rPr>
                <a:t>VERIFIED</a:t>
              </a:r>
              <a:endParaRPr lang="en-US" sz="1200">
                <a:latin typeface="Arial"/>
                <a:cs typeface="Arial"/>
              </a:endParaRP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rgbClr val="168446"/>
                  </a:solidFill>
                  <a:latin typeface="Arial"/>
                  <a:ea typeface="Arial" pitchFamily="34" charset="-122"/>
                  <a:cs typeface="Arial"/>
                </a:rPr>
                <a:t>BUYER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83" name="Text 26">
              <a:extLst>
                <a:ext uri="{FF2B5EF4-FFF2-40B4-BE49-F238E27FC236}">
                  <a16:creationId xmlns:a16="http://schemas.microsoft.com/office/drawing/2014/main" id="{CD620AF1-037F-7259-0D78-2CAB8ACC594B}"/>
                </a:ext>
              </a:extLst>
            </p:cNvPr>
            <p:cNvSpPr/>
            <p:nvPr/>
          </p:nvSpPr>
          <p:spPr>
            <a:xfrm>
              <a:off x="3884024" y="5147831"/>
              <a:ext cx="786384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Discover + order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84" name="Shape 27">
              <a:extLst>
                <a:ext uri="{FF2B5EF4-FFF2-40B4-BE49-F238E27FC236}">
                  <a16:creationId xmlns:a16="http://schemas.microsoft.com/office/drawing/2014/main" id="{A5CDB5BC-A157-126D-B7B0-56730D8E20D8}"/>
                </a:ext>
              </a:extLst>
            </p:cNvPr>
            <p:cNvSpPr/>
            <p:nvPr/>
          </p:nvSpPr>
          <p:spPr>
            <a:xfrm>
              <a:off x="5420216" y="4573210"/>
              <a:ext cx="932688" cy="731520"/>
            </a:xfrm>
            <a:prstGeom prst="roundRect">
              <a:avLst>
                <a:gd name="adj" fmla="val 7500"/>
              </a:avLst>
            </a:prstGeom>
            <a:solidFill>
              <a:srgbClr val="EAF7ED"/>
            </a:solidFill>
            <a:ln w="11430">
              <a:solidFill>
                <a:srgbClr val="168446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85" name="Text 28">
              <a:extLst>
                <a:ext uri="{FF2B5EF4-FFF2-40B4-BE49-F238E27FC236}">
                  <a16:creationId xmlns:a16="http://schemas.microsoft.com/office/drawing/2014/main" id="{F0EEAD3F-9CB5-9DCF-1454-76C8CF4F3549}"/>
                </a:ext>
              </a:extLst>
            </p:cNvPr>
            <p:cNvSpPr/>
            <p:nvPr/>
          </p:nvSpPr>
          <p:spPr>
            <a:xfrm>
              <a:off x="5475080" y="4719514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168446"/>
                  </a:solidFill>
                  <a:latin typeface="Arial"/>
                  <a:ea typeface="Arial" pitchFamily="34" charset="-122"/>
                  <a:cs typeface="Arial"/>
                </a:rPr>
                <a:t>PAYMENT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86" name="Text 29">
              <a:extLst>
                <a:ext uri="{FF2B5EF4-FFF2-40B4-BE49-F238E27FC236}">
                  <a16:creationId xmlns:a16="http://schemas.microsoft.com/office/drawing/2014/main" id="{1E74BA36-A2B1-F057-D80F-75925593F3E9}"/>
                </a:ext>
              </a:extLst>
            </p:cNvPr>
            <p:cNvSpPr/>
            <p:nvPr/>
          </p:nvSpPr>
          <p:spPr>
            <a:xfrm>
              <a:off x="5493368" y="4966402"/>
              <a:ext cx="786384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UPI / </a:t>
              </a:r>
              <a:r>
                <a:rPr lang="en-US" sz="1200" dirty="0" err="1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Razorpay</a:t>
              </a:r>
              <a:endParaRPr lang="en-US" sz="1200" err="1">
                <a:latin typeface="Arial"/>
                <a:cs typeface="Arial"/>
              </a:endParaRPr>
            </a:p>
          </p:txBody>
        </p:sp>
        <p:sp>
          <p:nvSpPr>
            <p:cNvPr id="87" name="Shape 30">
              <a:extLst>
                <a:ext uri="{FF2B5EF4-FFF2-40B4-BE49-F238E27FC236}">
                  <a16:creationId xmlns:a16="http://schemas.microsoft.com/office/drawing/2014/main" id="{A1D75A29-88EE-EE29-4D5D-E42FFDBA3349}"/>
                </a:ext>
              </a:extLst>
            </p:cNvPr>
            <p:cNvSpPr/>
            <p:nvPr/>
          </p:nvSpPr>
          <p:spPr>
            <a:xfrm>
              <a:off x="6992984" y="4573210"/>
              <a:ext cx="932688" cy="731520"/>
            </a:xfrm>
            <a:prstGeom prst="roundRect">
              <a:avLst>
                <a:gd name="adj" fmla="val 7500"/>
              </a:avLst>
            </a:prstGeom>
            <a:solidFill>
              <a:srgbClr val="EAF7ED"/>
            </a:solidFill>
            <a:ln w="11430">
              <a:solidFill>
                <a:srgbClr val="168446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16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/>
            </a:p>
          </p:txBody>
        </p:sp>
        <p:sp>
          <p:nvSpPr>
            <p:cNvPr id="88" name="Text 31">
              <a:extLst>
                <a:ext uri="{FF2B5EF4-FFF2-40B4-BE49-F238E27FC236}">
                  <a16:creationId xmlns:a16="http://schemas.microsoft.com/office/drawing/2014/main" id="{4DF8D397-B571-6557-131E-F62524613D87}"/>
                </a:ext>
              </a:extLst>
            </p:cNvPr>
            <p:cNvSpPr/>
            <p:nvPr/>
          </p:nvSpPr>
          <p:spPr>
            <a:xfrm>
              <a:off x="7047848" y="4719514"/>
              <a:ext cx="822960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168446"/>
                  </a:solidFill>
                  <a:latin typeface="Arial"/>
                  <a:ea typeface="Arial" pitchFamily="34" charset="-122"/>
                  <a:cs typeface="Arial"/>
                </a:rPr>
                <a:t>LOGISTICS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89" name="Text 32">
              <a:extLst>
                <a:ext uri="{FF2B5EF4-FFF2-40B4-BE49-F238E27FC236}">
                  <a16:creationId xmlns:a16="http://schemas.microsoft.com/office/drawing/2014/main" id="{BD3C0A76-70B4-7C43-16DE-2E3654FCAE6D}"/>
                </a:ext>
              </a:extLst>
            </p:cNvPr>
            <p:cNvSpPr/>
            <p:nvPr/>
          </p:nvSpPr>
          <p:spPr>
            <a:xfrm>
              <a:off x="7066136" y="4966402"/>
              <a:ext cx="786384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Batch + route</a:t>
              </a:r>
              <a:endParaRPr lang="en-US" sz="1200">
                <a:latin typeface="Arial"/>
                <a:cs typeface="Arial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5D456EA-5582-DE25-EC9E-D63F5B01C4D4}"/>
              </a:ext>
            </a:extLst>
          </p:cNvPr>
          <p:cNvGrpSpPr/>
          <p:nvPr/>
        </p:nvGrpSpPr>
        <p:grpSpPr>
          <a:xfrm>
            <a:off x="955040" y="5969725"/>
            <a:ext cx="10297061" cy="589085"/>
            <a:chOff x="1160659" y="5836678"/>
            <a:chExt cx="7708682" cy="310896"/>
          </a:xfrm>
        </p:grpSpPr>
        <p:sp>
          <p:nvSpPr>
            <p:cNvPr id="62" name="Text 35">
              <a:extLst>
                <a:ext uri="{FF2B5EF4-FFF2-40B4-BE49-F238E27FC236}">
                  <a16:creationId xmlns:a16="http://schemas.microsoft.com/office/drawing/2014/main" id="{32E6702B-4FCD-06CB-466F-332E128F8C02}"/>
                </a:ext>
              </a:extLst>
            </p:cNvPr>
            <p:cNvSpPr/>
            <p:nvPr/>
          </p:nvSpPr>
          <p:spPr>
            <a:xfrm>
              <a:off x="1160659" y="5965275"/>
              <a:ext cx="1417320" cy="16459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l">
                <a:buNone/>
              </a:pPr>
              <a:r>
                <a:rPr lang="en-US" sz="1600" b="1" dirty="0">
                  <a:solidFill>
                    <a:srgbClr val="168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INNOVATION</a:t>
              </a:r>
              <a:endParaRPr lang="en-US" sz="1600" dirty="0"/>
            </a:p>
          </p:txBody>
        </p:sp>
        <p:sp>
          <p:nvSpPr>
            <p:cNvPr id="63" name="Shape 36">
              <a:extLst>
                <a:ext uri="{FF2B5EF4-FFF2-40B4-BE49-F238E27FC236}">
                  <a16:creationId xmlns:a16="http://schemas.microsoft.com/office/drawing/2014/main" id="{9A61AFAF-BEB2-98EF-D5C9-34F97D003063}"/>
                </a:ext>
              </a:extLst>
            </p:cNvPr>
            <p:cNvSpPr/>
            <p:nvPr/>
          </p:nvSpPr>
          <p:spPr>
            <a:xfrm>
              <a:off x="2816013" y="5836678"/>
              <a:ext cx="1124712" cy="310896"/>
            </a:xfrm>
            <a:prstGeom prst="roundRect">
              <a:avLst>
                <a:gd name="adj" fmla="val 17647"/>
              </a:avLst>
            </a:prstGeom>
            <a:solidFill>
              <a:srgbClr val="168446"/>
            </a:solidFill>
            <a:ln w="12700">
              <a:solidFill>
                <a:srgbClr val="168446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 sz="2000"/>
            </a:p>
          </p:txBody>
        </p:sp>
        <p:sp>
          <p:nvSpPr>
            <p:cNvPr id="64" name="Text 37">
              <a:extLst>
                <a:ext uri="{FF2B5EF4-FFF2-40B4-BE49-F238E27FC236}">
                  <a16:creationId xmlns:a16="http://schemas.microsoft.com/office/drawing/2014/main" id="{4C97F1B8-AB11-70BD-ED57-C3B1C2CBD544}"/>
                </a:ext>
              </a:extLst>
            </p:cNvPr>
            <p:cNvSpPr/>
            <p:nvPr/>
          </p:nvSpPr>
          <p:spPr>
            <a:xfrm>
              <a:off x="2861733" y="5918974"/>
              <a:ext cx="1033272" cy="14630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AI Pricing</a:t>
              </a:r>
              <a:endParaRPr lang="en-US" sz="1100" dirty="0"/>
            </a:p>
          </p:txBody>
        </p:sp>
        <p:sp>
          <p:nvSpPr>
            <p:cNvPr id="65" name="Shape 38">
              <a:extLst>
                <a:ext uri="{FF2B5EF4-FFF2-40B4-BE49-F238E27FC236}">
                  <a16:creationId xmlns:a16="http://schemas.microsoft.com/office/drawing/2014/main" id="{05E98ADD-C67C-5AC6-262A-B72FBF769D44}"/>
                </a:ext>
              </a:extLst>
            </p:cNvPr>
            <p:cNvSpPr/>
            <p:nvPr/>
          </p:nvSpPr>
          <p:spPr>
            <a:xfrm>
              <a:off x="4187613" y="5836678"/>
              <a:ext cx="1216152" cy="310896"/>
            </a:xfrm>
            <a:prstGeom prst="roundRect">
              <a:avLst>
                <a:gd name="adj" fmla="val 17647"/>
              </a:avLst>
            </a:prstGeom>
            <a:solidFill>
              <a:srgbClr val="0B3F6B"/>
            </a:solidFill>
            <a:ln w="12700">
              <a:solidFill>
                <a:srgbClr val="0B3F6B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 sz="2000"/>
            </a:p>
          </p:txBody>
        </p:sp>
        <p:sp>
          <p:nvSpPr>
            <p:cNvPr id="66" name="Text 39">
              <a:extLst>
                <a:ext uri="{FF2B5EF4-FFF2-40B4-BE49-F238E27FC236}">
                  <a16:creationId xmlns:a16="http://schemas.microsoft.com/office/drawing/2014/main" id="{369196B3-A876-1749-CE35-832835A60C71}"/>
                </a:ext>
              </a:extLst>
            </p:cNvPr>
            <p:cNvSpPr/>
            <p:nvPr/>
          </p:nvSpPr>
          <p:spPr>
            <a:xfrm>
              <a:off x="4233333" y="5918974"/>
              <a:ext cx="1124712" cy="14630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Trust Score</a:t>
              </a:r>
              <a:endParaRPr lang="en-US" sz="1100" dirty="0"/>
            </a:p>
          </p:txBody>
        </p:sp>
        <p:sp>
          <p:nvSpPr>
            <p:cNvPr id="67" name="Shape 40">
              <a:extLst>
                <a:ext uri="{FF2B5EF4-FFF2-40B4-BE49-F238E27FC236}">
                  <a16:creationId xmlns:a16="http://schemas.microsoft.com/office/drawing/2014/main" id="{7FBED601-1C95-0A5D-329D-7FE6CCC309F4}"/>
                </a:ext>
              </a:extLst>
            </p:cNvPr>
            <p:cNvSpPr/>
            <p:nvPr/>
          </p:nvSpPr>
          <p:spPr>
            <a:xfrm>
              <a:off x="5650653" y="5836678"/>
              <a:ext cx="1444752" cy="310896"/>
            </a:xfrm>
            <a:prstGeom prst="roundRect">
              <a:avLst>
                <a:gd name="adj" fmla="val 17647"/>
              </a:avLst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 sz="2000"/>
            </a:p>
          </p:txBody>
        </p:sp>
        <p:sp>
          <p:nvSpPr>
            <p:cNvPr id="68" name="Text 41">
              <a:extLst>
                <a:ext uri="{FF2B5EF4-FFF2-40B4-BE49-F238E27FC236}">
                  <a16:creationId xmlns:a16="http://schemas.microsoft.com/office/drawing/2014/main" id="{E63075E1-DA1D-6167-CBE6-C184A4D1D391}"/>
                </a:ext>
              </a:extLst>
            </p:cNvPr>
            <p:cNvSpPr/>
            <p:nvPr/>
          </p:nvSpPr>
          <p:spPr>
            <a:xfrm>
              <a:off x="5696373" y="5918974"/>
              <a:ext cx="1353312" cy="14630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Route Optimization</a:t>
              </a:r>
              <a:endParaRPr lang="en-US" sz="1100" dirty="0"/>
            </a:p>
          </p:txBody>
        </p:sp>
        <p:sp>
          <p:nvSpPr>
            <p:cNvPr id="69" name="Shape 42">
              <a:extLst>
                <a:ext uri="{FF2B5EF4-FFF2-40B4-BE49-F238E27FC236}">
                  <a16:creationId xmlns:a16="http://schemas.microsoft.com/office/drawing/2014/main" id="{61EEBC6A-3574-1B2C-4C1C-88371D99D18D}"/>
                </a:ext>
              </a:extLst>
            </p:cNvPr>
            <p:cNvSpPr/>
            <p:nvPr/>
          </p:nvSpPr>
          <p:spPr>
            <a:xfrm>
              <a:off x="7388013" y="5836678"/>
              <a:ext cx="1481328" cy="310896"/>
            </a:xfrm>
            <a:prstGeom prst="roundRect">
              <a:avLst>
                <a:gd name="adj" fmla="val 17647"/>
              </a:avLst>
            </a:prstGeom>
            <a:solidFill>
              <a:srgbClr val="C9302C"/>
            </a:solidFill>
            <a:ln w="12700">
              <a:solidFill>
                <a:srgbClr val="C9302C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en-US" sz="2000"/>
            </a:p>
          </p:txBody>
        </p:sp>
        <p:sp>
          <p:nvSpPr>
            <p:cNvPr id="70" name="Text 43">
              <a:extLst>
                <a:ext uri="{FF2B5EF4-FFF2-40B4-BE49-F238E27FC236}">
                  <a16:creationId xmlns:a16="http://schemas.microsoft.com/office/drawing/2014/main" id="{53799260-4A1C-8D64-0174-B2D37C9582FE}"/>
                </a:ext>
              </a:extLst>
            </p:cNvPr>
            <p:cNvSpPr/>
            <p:nvPr/>
          </p:nvSpPr>
          <p:spPr>
            <a:xfrm>
              <a:off x="7433733" y="5918974"/>
              <a:ext cx="1389888" cy="14630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 spc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Transparent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Comparison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/>
          <p:cNvSpPr/>
          <p:nvPr/>
        </p:nvSpPr>
        <p:spPr>
          <a:xfrm>
            <a:off x="11539728" y="6547104"/>
            <a:ext cx="3291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5630" y="998775"/>
            <a:ext cx="2788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latin typeface="Arial"/>
                <a:ea typeface="Arial" pitchFamily="34" charset="-122"/>
                <a:cs typeface="Arial"/>
              </a:rPr>
              <a:t>SYSTEM ARCHITECTURE</a:t>
            </a:r>
            <a:endParaRPr lang="en-US" sz="1600" b="1">
              <a:latin typeface="Arial"/>
              <a:cs typeface="Arial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3C404D3-F1C5-E696-E501-D5CFFED7261F}"/>
              </a:ext>
            </a:extLst>
          </p:cNvPr>
          <p:cNvGrpSpPr/>
          <p:nvPr/>
        </p:nvGrpSpPr>
        <p:grpSpPr>
          <a:xfrm>
            <a:off x="906215" y="1430356"/>
            <a:ext cx="10220041" cy="1021806"/>
            <a:chOff x="326185" y="1362117"/>
            <a:chExt cx="10220041" cy="1021806"/>
          </a:xfrm>
        </p:grpSpPr>
        <p:sp>
          <p:nvSpPr>
            <p:cNvPr id="13" name="Shape 10"/>
            <p:cNvSpPr/>
            <p:nvPr/>
          </p:nvSpPr>
          <p:spPr>
            <a:xfrm>
              <a:off x="2249085" y="1764453"/>
              <a:ext cx="338328" cy="0"/>
            </a:xfrm>
            <a:prstGeom prst="line">
              <a:avLst/>
            </a:prstGeom>
            <a:noFill/>
            <a:ln w="12700">
              <a:solidFill>
                <a:srgbClr val="2F5F88"/>
              </a:solidFill>
              <a:prstDash val="solid"/>
            </a:ln>
          </p:spPr>
        </p:sp>
        <p:sp>
          <p:nvSpPr>
            <p:cNvPr id="14" name="Shape 11"/>
            <p:cNvSpPr/>
            <p:nvPr/>
          </p:nvSpPr>
          <p:spPr>
            <a:xfrm>
              <a:off x="4324773" y="1764453"/>
              <a:ext cx="338328" cy="0"/>
            </a:xfrm>
            <a:prstGeom prst="line">
              <a:avLst/>
            </a:prstGeom>
            <a:noFill/>
            <a:ln w="12700">
              <a:solidFill>
                <a:srgbClr val="2F5F88"/>
              </a:solidFill>
              <a:prstDash val="solid"/>
            </a:ln>
          </p:spPr>
        </p:sp>
        <p:sp>
          <p:nvSpPr>
            <p:cNvPr id="15" name="Shape 12"/>
            <p:cNvSpPr/>
            <p:nvPr/>
          </p:nvSpPr>
          <p:spPr>
            <a:xfrm>
              <a:off x="6519333" y="1764453"/>
              <a:ext cx="338328" cy="0"/>
            </a:xfrm>
            <a:prstGeom prst="line">
              <a:avLst/>
            </a:prstGeom>
            <a:noFill/>
            <a:ln w="12700">
              <a:solidFill>
                <a:srgbClr val="2F5F88"/>
              </a:solidFill>
              <a:prstDash val="solid"/>
            </a:ln>
          </p:spPr>
        </p:sp>
        <p:sp>
          <p:nvSpPr>
            <p:cNvPr id="16" name="Shape 13"/>
            <p:cNvSpPr/>
            <p:nvPr/>
          </p:nvSpPr>
          <p:spPr>
            <a:xfrm>
              <a:off x="8531013" y="1764453"/>
              <a:ext cx="338328" cy="0"/>
            </a:xfrm>
            <a:prstGeom prst="line">
              <a:avLst/>
            </a:prstGeom>
            <a:noFill/>
            <a:ln w="12700">
              <a:solidFill>
                <a:srgbClr val="2F5F88"/>
              </a:solidFill>
              <a:prstDash val="solid"/>
            </a:ln>
          </p:spPr>
        </p:sp>
        <p:sp>
          <p:nvSpPr>
            <p:cNvPr id="17" name="Shape 14"/>
            <p:cNvSpPr/>
            <p:nvPr/>
          </p:nvSpPr>
          <p:spPr>
            <a:xfrm>
              <a:off x="326185" y="1362117"/>
              <a:ext cx="1907563" cy="973424"/>
            </a:xfrm>
            <a:prstGeom prst="roundRect">
              <a:avLst>
                <a:gd name="adj" fmla="val 7500"/>
              </a:avLst>
            </a:prstGeom>
            <a:solidFill>
              <a:srgbClr val="F4F9FC"/>
            </a:solidFill>
            <a:ln w="12700">
              <a:solidFill>
                <a:srgbClr val="2F5F88"/>
              </a:solidFill>
              <a:prstDash val="solid"/>
            </a:ln>
            <a:effectLst>
              <a:outerShdw blurRad="19050" dist="508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8" name="Text 15"/>
            <p:cNvSpPr/>
            <p:nvPr/>
          </p:nvSpPr>
          <p:spPr>
            <a:xfrm>
              <a:off x="447717" y="1554141"/>
              <a:ext cx="170078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0B3F6B"/>
                  </a:solidFill>
                  <a:latin typeface="Aptos Narrow"/>
                  <a:ea typeface="Verdana"/>
                  <a:cs typeface="Arial"/>
                </a:rPr>
                <a:t>Farmer / Buyer Web</a:t>
              </a:r>
            </a:p>
          </p:txBody>
        </p:sp>
        <p:sp>
          <p:nvSpPr>
            <p:cNvPr id="19" name="Text 16"/>
            <p:cNvSpPr/>
            <p:nvPr/>
          </p:nvSpPr>
          <p:spPr>
            <a:xfrm>
              <a:off x="326764" y="1934367"/>
              <a:ext cx="1954784" cy="9821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 Narrow"/>
                  <a:ea typeface="Verdana"/>
                  <a:cs typeface="Arial" pitchFamily="34" charset="-120"/>
                </a:rPr>
                <a:t>React.js + Tailwind CSS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20" name="Shape 17"/>
            <p:cNvSpPr/>
            <p:nvPr/>
          </p:nvSpPr>
          <p:spPr>
            <a:xfrm>
              <a:off x="2462348" y="1362117"/>
              <a:ext cx="1859183" cy="973424"/>
            </a:xfrm>
            <a:prstGeom prst="roundRect">
              <a:avLst>
                <a:gd name="adj" fmla="val 7500"/>
              </a:avLst>
            </a:prstGeom>
            <a:solidFill>
              <a:srgbClr val="F4F9FC"/>
            </a:solidFill>
            <a:ln w="12700">
              <a:solidFill>
                <a:srgbClr val="2F5F88"/>
              </a:solidFill>
              <a:prstDash val="solid"/>
            </a:ln>
            <a:effectLst>
              <a:outerShdw blurRad="19050" dist="508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1" name="Text 18"/>
            <p:cNvSpPr/>
            <p:nvPr/>
          </p:nvSpPr>
          <p:spPr>
            <a:xfrm>
              <a:off x="2523405" y="1554141"/>
              <a:ext cx="170078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B3F6B"/>
                  </a:solidFill>
                  <a:latin typeface="Aptos Narrow"/>
                  <a:ea typeface="Verdana"/>
                  <a:cs typeface="Arial" pitchFamily="34" charset="-120"/>
                </a:rPr>
                <a:t>REST API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2523405" y="1922272"/>
              <a:ext cx="170078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 Narrow"/>
                  <a:ea typeface="Verdana"/>
                  <a:cs typeface="Arial" pitchFamily="34" charset="-120"/>
                </a:rPr>
                <a:t>Python + FastAPI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23" name="Shape 20"/>
            <p:cNvSpPr/>
            <p:nvPr/>
          </p:nvSpPr>
          <p:spPr>
            <a:xfrm>
              <a:off x="4656908" y="1362117"/>
              <a:ext cx="1847088" cy="1021805"/>
            </a:xfrm>
            <a:prstGeom prst="roundRect">
              <a:avLst>
                <a:gd name="adj" fmla="val 7500"/>
              </a:avLst>
            </a:prstGeom>
            <a:solidFill>
              <a:srgbClr val="F4F9FC"/>
            </a:solidFill>
            <a:ln w="12700">
              <a:solidFill>
                <a:srgbClr val="2F5F88"/>
              </a:solidFill>
              <a:prstDash val="solid"/>
            </a:ln>
            <a:effectLst>
              <a:outerShdw blurRad="19050" dist="508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4717965" y="1554141"/>
              <a:ext cx="170078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B3F6B"/>
                  </a:solidFill>
                  <a:latin typeface="Aptos Narrow"/>
                  <a:ea typeface="Verdana"/>
                  <a:cs typeface="Arial" pitchFamily="34" charset="-120"/>
                </a:rPr>
                <a:t>Data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4717965" y="1837605"/>
              <a:ext cx="170078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 Narrow"/>
                  <a:ea typeface="Verdana"/>
                  <a:cs typeface="Arial" pitchFamily="34" charset="-120"/>
                </a:rPr>
                <a:t>PostgreSQL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26" name="Shape 23"/>
            <p:cNvSpPr/>
            <p:nvPr/>
          </p:nvSpPr>
          <p:spPr>
            <a:xfrm>
              <a:off x="6680683" y="1362117"/>
              <a:ext cx="1865958" cy="1021805"/>
            </a:xfrm>
            <a:prstGeom prst="roundRect">
              <a:avLst>
                <a:gd name="adj" fmla="val 7500"/>
              </a:avLst>
            </a:prstGeom>
            <a:solidFill>
              <a:srgbClr val="F4F9FC"/>
            </a:solidFill>
            <a:ln w="12700">
              <a:solidFill>
                <a:srgbClr val="2F5F88"/>
              </a:solidFill>
              <a:prstDash val="solid"/>
            </a:ln>
            <a:effectLst>
              <a:outerShdw blurRad="19050" dist="508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7" name="Text 24"/>
            <p:cNvSpPr/>
            <p:nvPr/>
          </p:nvSpPr>
          <p:spPr>
            <a:xfrm>
              <a:off x="6729645" y="1554141"/>
              <a:ext cx="179222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B3F6B"/>
                  </a:solidFill>
                  <a:latin typeface="Aptos Narrow"/>
                  <a:ea typeface="Verdana"/>
                  <a:cs typeface="Arial" pitchFamily="34" charset="-120"/>
                </a:rPr>
                <a:t>Intelligence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28" name="Text 25"/>
            <p:cNvSpPr/>
            <p:nvPr/>
          </p:nvSpPr>
          <p:spPr>
            <a:xfrm>
              <a:off x="6729645" y="1837605"/>
              <a:ext cx="179222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 Narrow"/>
                  <a:ea typeface="Verdana"/>
                  <a:cs typeface="Arial" pitchFamily="34" charset="-120"/>
                </a:rPr>
                <a:t>Scikit-learn</a:t>
              </a:r>
              <a:endParaRPr lang="en-US" sz="1600" dirty="0">
                <a:latin typeface="Aptos Narrow"/>
                <a:ea typeface="Verdana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 Narrow"/>
                  <a:ea typeface="Verdana"/>
                  <a:cs typeface="Arial" pitchFamily="34" charset="-120"/>
                </a:rPr>
                <a:t>Fair Price + Demand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29" name="Shape 26"/>
            <p:cNvSpPr/>
            <p:nvPr/>
          </p:nvSpPr>
          <p:spPr>
            <a:xfrm>
              <a:off x="8711233" y="1362117"/>
              <a:ext cx="1834993" cy="1021806"/>
            </a:xfrm>
            <a:prstGeom prst="roundRect">
              <a:avLst>
                <a:gd name="adj" fmla="val 7500"/>
              </a:avLst>
            </a:prstGeom>
            <a:solidFill>
              <a:srgbClr val="F4F9FC"/>
            </a:solidFill>
            <a:ln w="12700">
              <a:solidFill>
                <a:srgbClr val="2F5F88"/>
              </a:solidFill>
              <a:prstDash val="solid"/>
            </a:ln>
            <a:effectLst>
              <a:outerShdw blurRad="19050" dist="508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30" name="Text 27"/>
            <p:cNvSpPr/>
            <p:nvPr/>
          </p:nvSpPr>
          <p:spPr>
            <a:xfrm>
              <a:off x="8832765" y="1554141"/>
              <a:ext cx="170078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B3F6B"/>
                  </a:solidFill>
                  <a:latin typeface="Aptos Narrow"/>
                  <a:ea typeface="Verdana"/>
                  <a:cs typeface="Arial" pitchFamily="34" charset="-120"/>
                </a:rPr>
                <a:t>Services</a:t>
              </a:r>
              <a:endParaRPr lang="en-US" sz="1600" dirty="0">
                <a:latin typeface="Aptos Narrow"/>
                <a:ea typeface="Verdana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8832765" y="1837605"/>
              <a:ext cx="1700784" cy="1828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111111"/>
                  </a:solidFill>
                  <a:latin typeface="Aptos Narrow"/>
                  <a:ea typeface="Verdana"/>
                  <a:cs typeface="Arial" pitchFamily="34" charset="-120"/>
                </a:rPr>
                <a:t>Trust + Orders + Logistics</a:t>
              </a:r>
              <a:endParaRPr lang="en-US" sz="1600" dirty="0">
                <a:latin typeface="Aptos Narrow"/>
                <a:ea typeface="Verdana"/>
              </a:endParaRPr>
            </a:p>
          </p:txBody>
        </p:sp>
      </p:grpSp>
      <p:sp>
        <p:nvSpPr>
          <p:cNvPr id="32" name="Text 29"/>
          <p:cNvSpPr/>
          <p:nvPr/>
        </p:nvSpPr>
        <p:spPr>
          <a:xfrm>
            <a:off x="287906" y="3026578"/>
            <a:ext cx="2063689" cy="194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8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 flipH="1">
            <a:off x="1504986" y="2988926"/>
            <a:ext cx="2135728" cy="3744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/ OSM</a:t>
            </a:r>
            <a:endParaRPr lang="en-US" sz="1600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AA318E7-1F4B-F341-8A5A-322C4BA7D571}"/>
              </a:ext>
            </a:extLst>
          </p:cNvPr>
          <p:cNvGrpSpPr/>
          <p:nvPr/>
        </p:nvGrpSpPr>
        <p:grpSpPr>
          <a:xfrm>
            <a:off x="6861922" y="2846155"/>
            <a:ext cx="2159819" cy="480229"/>
            <a:chOff x="6702698" y="2846155"/>
            <a:chExt cx="2159819" cy="480229"/>
          </a:xfrm>
        </p:grpSpPr>
        <p:sp>
          <p:nvSpPr>
            <p:cNvPr id="37" name="Shape 34"/>
            <p:cNvSpPr/>
            <p:nvPr/>
          </p:nvSpPr>
          <p:spPr>
            <a:xfrm>
              <a:off x="6702698" y="2846155"/>
              <a:ext cx="2159819" cy="480229"/>
            </a:xfrm>
            <a:prstGeom prst="roundRect">
              <a:avLst>
                <a:gd name="adj" fmla="val 17647"/>
              </a:avLst>
            </a:prstGeom>
            <a:solidFill>
              <a:srgbClr val="0B3F6B"/>
            </a:solidFill>
            <a:ln w="12700">
              <a:solidFill>
                <a:srgbClr val="0B3F6B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38" name="Text 35"/>
            <p:cNvSpPr/>
            <p:nvPr/>
          </p:nvSpPr>
          <p:spPr>
            <a:xfrm>
              <a:off x="7014512" y="3014562"/>
              <a:ext cx="1536192" cy="14630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/>
                  <a:ea typeface="Arial" pitchFamily="34" charset="-122"/>
                  <a:cs typeface="Arial"/>
                </a:rPr>
                <a:t>JWT / Firebase</a:t>
              </a:r>
              <a:endParaRPr lang="en-US" sz="1400" dirty="0">
                <a:latin typeface="Arial"/>
                <a:cs typeface="Arial"/>
              </a:endParaRPr>
            </a:p>
          </p:txBody>
        </p:sp>
      </p:grpSp>
      <p:sp>
        <p:nvSpPr>
          <p:cNvPr id="39" name="Shape 36"/>
          <p:cNvSpPr/>
          <p:nvPr/>
        </p:nvSpPr>
        <p:spPr>
          <a:xfrm>
            <a:off x="9180534" y="2834782"/>
            <a:ext cx="2147436" cy="492324"/>
          </a:xfrm>
          <a:prstGeom prst="roundRect">
            <a:avLst>
              <a:gd name="adj" fmla="val 17647"/>
            </a:avLst>
          </a:prstGeom>
          <a:solidFill>
            <a:srgbClr val="606060"/>
          </a:solidFill>
          <a:ln w="12700">
            <a:solidFill>
              <a:srgbClr val="606060"/>
            </a:solidFill>
            <a:prstDash val="solid"/>
          </a:ln>
          <a:effectLst>
            <a:outerShdw blurRad="127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9332945" y="3002466"/>
            <a:ext cx="1741520" cy="158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AWS / Firebase</a:t>
            </a:r>
            <a:endParaRPr lang="en-US" sz="1400">
              <a:latin typeface="Arial"/>
              <a:cs typeface="Arial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417EA7E-6133-0510-EF62-FE71425E0BDE}"/>
              </a:ext>
            </a:extLst>
          </p:cNvPr>
          <p:cNvGrpSpPr/>
          <p:nvPr/>
        </p:nvGrpSpPr>
        <p:grpSpPr>
          <a:xfrm>
            <a:off x="48262" y="153853"/>
            <a:ext cx="1709722" cy="494687"/>
            <a:chOff x="82381" y="-5371"/>
            <a:chExt cx="1709722" cy="494687"/>
          </a:xfrm>
        </p:grpSpPr>
        <p:sp>
          <p:nvSpPr>
            <p:cNvPr id="3" name="Text 1"/>
            <p:cNvSpPr/>
            <p:nvPr/>
          </p:nvSpPr>
          <p:spPr>
            <a:xfrm>
              <a:off x="269288" y="-5371"/>
              <a:ext cx="1322976" cy="47935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B3F6B"/>
                  </a:solidFill>
                  <a:latin typeface="Times New Roman"/>
                  <a:cs typeface="Times New Roman"/>
                </a:rPr>
                <a:t>SINISTERSIX</a:t>
              </a:r>
              <a:endParaRPr lang="en-US" sz="1400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A04D836-B854-EBA8-672E-75C99A3E96FF}"/>
                </a:ext>
              </a:extLst>
            </p:cNvPr>
            <p:cNvSpPr/>
            <p:nvPr/>
          </p:nvSpPr>
          <p:spPr>
            <a:xfrm>
              <a:off x="82381" y="670"/>
              <a:ext cx="1709722" cy="48864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41885EDD-124C-CD79-9CAD-F70C8EBDBE55}"/>
              </a:ext>
            </a:extLst>
          </p:cNvPr>
          <p:cNvGrpSpPr/>
          <p:nvPr/>
        </p:nvGrpSpPr>
        <p:grpSpPr>
          <a:xfrm>
            <a:off x="360499" y="3820371"/>
            <a:ext cx="5989788" cy="2404294"/>
            <a:chOff x="193242" y="3572570"/>
            <a:chExt cx="5691753" cy="2231985"/>
          </a:xfrm>
        </p:grpSpPr>
        <p:sp>
          <p:nvSpPr>
            <p:cNvPr id="41" name="Text 38"/>
            <p:cNvSpPr/>
            <p:nvPr/>
          </p:nvSpPr>
          <p:spPr>
            <a:xfrm>
              <a:off x="454701" y="3572570"/>
              <a:ext cx="2788920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0B3F6B"/>
                  </a:solidFill>
                  <a:latin typeface="Arial"/>
                  <a:ea typeface="Arial" pitchFamily="34" charset="-122"/>
                  <a:cs typeface="Arial"/>
                </a:rPr>
                <a:t>UML — CORE USE CASES</a:t>
              </a:r>
              <a:endParaRPr lang="en-US" sz="1400">
                <a:latin typeface="Arial"/>
                <a:cs typeface="Arial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099C53E-12EA-9AFB-E132-2012C08754D7}"/>
                </a:ext>
              </a:extLst>
            </p:cNvPr>
            <p:cNvGrpSpPr/>
            <p:nvPr/>
          </p:nvGrpSpPr>
          <p:grpSpPr>
            <a:xfrm>
              <a:off x="193242" y="4103771"/>
              <a:ext cx="5691753" cy="1700784"/>
              <a:chOff x="193242" y="4103771"/>
              <a:chExt cx="5691753" cy="1700784"/>
            </a:xfrm>
          </p:grpSpPr>
          <p:sp>
            <p:nvSpPr>
              <p:cNvPr id="45" name="Text 42"/>
              <p:cNvSpPr/>
              <p:nvPr/>
            </p:nvSpPr>
            <p:spPr>
              <a:xfrm>
                <a:off x="5290635" y="4539867"/>
                <a:ext cx="594360" cy="365760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11111"/>
                    </a:solidFill>
                    <a:latin typeface="Arial"/>
                    <a:ea typeface="Arial" pitchFamily="34" charset="-122"/>
                    <a:cs typeface="Arial"/>
                  </a:rPr>
                  <a:t>🛒</a:t>
                </a:r>
                <a:endParaRPr lang="en-US" sz="1200">
                  <a:latin typeface="Arial"/>
                  <a:cs typeface="Arial"/>
                </a:endParaRPr>
              </a:p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111111"/>
                    </a:solidFill>
                    <a:latin typeface="Arial"/>
                    <a:ea typeface="Arial" pitchFamily="34" charset="-122"/>
                    <a:cs typeface="Arial"/>
                  </a:rPr>
                  <a:t>Buyer</a:t>
                </a:r>
                <a:endParaRPr lang="en-US" sz="1200">
                  <a:latin typeface="Arial"/>
                  <a:cs typeface="Arial"/>
                </a:endParaRPr>
              </a:p>
            </p:txBody>
          </p: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D3BD2E2C-C32C-7C92-757A-AB37F795306D}"/>
                  </a:ext>
                </a:extLst>
              </p:cNvPr>
              <p:cNvGrpSpPr/>
              <p:nvPr/>
            </p:nvGrpSpPr>
            <p:grpSpPr>
              <a:xfrm>
                <a:off x="193242" y="4103771"/>
                <a:ext cx="5028924" cy="1700784"/>
                <a:chOff x="193242" y="4103771"/>
                <a:chExt cx="5028924" cy="1700784"/>
              </a:xfrm>
            </p:grpSpPr>
            <p:sp>
              <p:nvSpPr>
                <p:cNvPr id="42" name="Shape 39"/>
                <p:cNvSpPr/>
                <p:nvPr/>
              </p:nvSpPr>
              <p:spPr>
                <a:xfrm>
                  <a:off x="1194516" y="4103771"/>
                  <a:ext cx="3959352" cy="1700784"/>
                </a:xfrm>
                <a:prstGeom prst="roundRect">
                  <a:avLst>
                    <a:gd name="adj" fmla="val 3226"/>
                  </a:avLst>
                </a:prstGeom>
                <a:solidFill>
                  <a:srgbClr val="FFFFFF"/>
                </a:solidFill>
                <a:ln w="12700">
                  <a:solidFill>
                    <a:srgbClr val="2F5F88"/>
                  </a:solidFill>
                  <a:prstDash val="solid"/>
                </a:ln>
                <a:effectLst>
                  <a:outerShdw blurRad="12700" dist="50800" dir="2700000" algn="bl" rotWithShape="0">
                    <a:srgbClr val="000000">
                      <a:alpha val="12000"/>
                    </a:srgbClr>
                  </a:outerShdw>
                </a:effectLst>
              </p:spPr>
            </p:sp>
            <p:sp>
              <p:nvSpPr>
                <p:cNvPr id="43" name="Text 40"/>
                <p:cNvSpPr/>
                <p:nvPr/>
              </p:nvSpPr>
              <p:spPr>
                <a:xfrm>
                  <a:off x="2245238" y="4215573"/>
                  <a:ext cx="164592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t">
                  <a:normAutofit lnSpcReduction="10000"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0B3F6B"/>
                      </a:solidFill>
                      <a:latin typeface="Arial"/>
                      <a:ea typeface="Arial" pitchFamily="34" charset="-122"/>
                      <a:cs typeface="Arial"/>
                    </a:rPr>
                    <a:t>AGRI MARKETPLACE</a:t>
                  </a:r>
                  <a:endParaRPr lang="en-US" sz="1200">
                    <a:latin typeface="Arial"/>
                    <a:cs typeface="Arial"/>
                  </a:endParaRPr>
                </a:p>
              </p:txBody>
            </p:sp>
            <p:sp>
              <p:nvSpPr>
                <p:cNvPr id="44" name="Text 41"/>
                <p:cNvSpPr/>
                <p:nvPr/>
              </p:nvSpPr>
              <p:spPr>
                <a:xfrm>
                  <a:off x="193242" y="4549702"/>
                  <a:ext cx="86868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t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111111"/>
                      </a:solidFill>
                      <a:latin typeface="Arial"/>
                      <a:ea typeface="Arial" pitchFamily="34" charset="-122"/>
                      <a:cs typeface="Arial"/>
                    </a:rPr>
                    <a:t>👨‍🌾</a:t>
                  </a:r>
                  <a:endParaRPr lang="en-US" sz="1200">
                    <a:latin typeface="Arial"/>
                    <a:cs typeface="Arial"/>
                  </a:endParaRPr>
                </a:p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111111"/>
                      </a:solidFill>
                      <a:latin typeface="Arial"/>
                      <a:ea typeface="Arial" pitchFamily="34" charset="-122"/>
                      <a:cs typeface="Arial"/>
                    </a:rPr>
                    <a:t>Farmer/FPO</a:t>
                  </a:r>
                  <a:endParaRPr lang="en-US" sz="1200">
                    <a:latin typeface="Arial"/>
                    <a:cs typeface="Arial"/>
                  </a:endParaRPr>
                </a:p>
              </p:txBody>
            </p:sp>
            <p:sp>
              <p:nvSpPr>
                <p:cNvPr id="46" name="Shape 43"/>
                <p:cNvSpPr/>
                <p:nvPr/>
              </p:nvSpPr>
              <p:spPr>
                <a:xfrm>
                  <a:off x="1348145" y="4532795"/>
                  <a:ext cx="1370007" cy="506923"/>
                </a:xfrm>
                <a:prstGeom prst="ellipse">
                  <a:avLst/>
                </a:prstGeom>
                <a:solidFill>
                  <a:srgbClr val="EAF7ED"/>
                </a:solidFill>
                <a:ln w="8890">
                  <a:solidFill>
                    <a:srgbClr val="168446"/>
                  </a:solidFill>
                  <a:prstDash val="solid"/>
                </a:ln>
              </p:spPr>
            </p:sp>
            <p:sp>
              <p:nvSpPr>
                <p:cNvPr id="47" name="Text 44"/>
                <p:cNvSpPr/>
                <p:nvPr/>
              </p:nvSpPr>
              <p:spPr>
                <a:xfrm>
                  <a:off x="1519535" y="4700204"/>
                  <a:ext cx="960120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Autofit/>
                </a:bodyPr>
                <a:lstStyle/>
                <a:p>
                  <a:pPr marL="0" indent="0" algn="ctr">
                    <a:buNone/>
                  </a:pPr>
                  <a:r>
                    <a:rPr lang="en-US" sz="1100" b="1" dirty="0">
                      <a:solidFill>
                        <a:srgbClr val="111111"/>
                      </a:solidFill>
                      <a:latin typeface="Arial"/>
                      <a:ea typeface="Arial" pitchFamily="34" charset="-122"/>
                      <a:cs typeface="Arial"/>
                    </a:rPr>
                    <a:t>List Crop</a:t>
                  </a:r>
                  <a:endParaRPr lang="en-US" sz="1100">
                    <a:latin typeface="Arial"/>
                    <a:cs typeface="Arial"/>
                  </a:endParaRPr>
                </a:p>
              </p:txBody>
            </p:sp>
            <p:sp>
              <p:nvSpPr>
                <p:cNvPr id="48" name="Shape 45"/>
                <p:cNvSpPr/>
                <p:nvPr/>
              </p:nvSpPr>
              <p:spPr>
                <a:xfrm>
                  <a:off x="2994058" y="4532795"/>
                  <a:ext cx="1358634" cy="506923"/>
                </a:xfrm>
                <a:prstGeom prst="ellipse">
                  <a:avLst/>
                </a:prstGeom>
                <a:solidFill>
                  <a:srgbClr val="EAF7ED"/>
                </a:solidFill>
                <a:ln w="8890">
                  <a:solidFill>
                    <a:srgbClr val="168446"/>
                  </a:solidFill>
                  <a:prstDash val="solid"/>
                </a:ln>
              </p:spPr>
            </p:sp>
            <p:sp>
              <p:nvSpPr>
                <p:cNvPr id="49" name="Text 46"/>
                <p:cNvSpPr/>
                <p:nvPr/>
              </p:nvSpPr>
              <p:spPr>
                <a:xfrm>
                  <a:off x="3176257" y="4700204"/>
                  <a:ext cx="960120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11111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Get Fair</a:t>
                  </a:r>
                  <a:endParaRPr lang="en-US" sz="1200" dirty="0"/>
                </a:p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11111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Price</a:t>
                  </a:r>
                  <a:endParaRPr lang="en-US" sz="1200" dirty="0"/>
                </a:p>
              </p:txBody>
            </p:sp>
            <p:sp>
              <p:nvSpPr>
                <p:cNvPr id="50" name="Shape 47"/>
                <p:cNvSpPr/>
                <p:nvPr/>
              </p:nvSpPr>
              <p:spPr>
                <a:xfrm>
                  <a:off x="1348145" y="5107453"/>
                  <a:ext cx="1370007" cy="506923"/>
                </a:xfrm>
                <a:prstGeom prst="ellipse">
                  <a:avLst/>
                </a:prstGeom>
                <a:solidFill>
                  <a:srgbClr val="EAF7ED"/>
                </a:solidFill>
                <a:ln w="8890">
                  <a:solidFill>
                    <a:srgbClr val="168446"/>
                  </a:solidFill>
                  <a:prstDash val="solid"/>
                </a:ln>
              </p:spPr>
            </p:sp>
            <p:sp>
              <p:nvSpPr>
                <p:cNvPr id="51" name="Text 48"/>
                <p:cNvSpPr/>
                <p:nvPr/>
              </p:nvSpPr>
              <p:spPr>
                <a:xfrm>
                  <a:off x="1361443" y="5217181"/>
                  <a:ext cx="1244448" cy="182652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111111"/>
                      </a:solidFill>
                      <a:latin typeface="Arial"/>
                      <a:ea typeface="Arial" pitchFamily="34" charset="-122"/>
                      <a:cs typeface="Arial"/>
                    </a:rPr>
                    <a:t>Place Order</a:t>
                  </a:r>
                  <a:endParaRPr lang="en-US" sz="1200">
                    <a:latin typeface="Arial"/>
                    <a:cs typeface="Arial"/>
                  </a:endParaRPr>
                </a:p>
              </p:txBody>
            </p:sp>
            <p:sp>
              <p:nvSpPr>
                <p:cNvPr id="52" name="Shape 49"/>
                <p:cNvSpPr/>
                <p:nvPr/>
              </p:nvSpPr>
              <p:spPr>
                <a:xfrm>
                  <a:off x="2994058" y="5107453"/>
                  <a:ext cx="1358634" cy="506923"/>
                </a:xfrm>
                <a:prstGeom prst="ellipse">
                  <a:avLst/>
                </a:prstGeom>
                <a:solidFill>
                  <a:srgbClr val="EAF7ED"/>
                </a:solidFill>
                <a:ln w="8890">
                  <a:solidFill>
                    <a:srgbClr val="168446"/>
                  </a:solidFill>
                  <a:prstDash val="solid"/>
                </a:ln>
              </p:spPr>
            </p:sp>
            <p:sp>
              <p:nvSpPr>
                <p:cNvPr id="53" name="Text 50"/>
                <p:cNvSpPr/>
                <p:nvPr/>
              </p:nvSpPr>
              <p:spPr>
                <a:xfrm>
                  <a:off x="3176257" y="5285420"/>
                  <a:ext cx="960120" cy="137160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" tIns="254" rIns="254" bIns="254" rtlCol="0" anchor="ctr">
                  <a:noAutofit/>
                </a:bodyPr>
                <a:lstStyle/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11111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Track</a:t>
                  </a:r>
                  <a:endParaRPr lang="en-US" sz="1200" dirty="0"/>
                </a:p>
                <a:p>
                  <a:pPr marL="0" indent="0" algn="ctr">
                    <a:buNone/>
                  </a:pPr>
                  <a:r>
                    <a:rPr lang="en-US" sz="1200" b="1" dirty="0">
                      <a:solidFill>
                        <a:srgbClr val="111111"/>
                      </a:solidFill>
                      <a:latin typeface="Arial" pitchFamily="34" charset="0"/>
                      <a:ea typeface="Arial" pitchFamily="34" charset="-122"/>
                      <a:cs typeface="Arial" pitchFamily="34" charset="-120"/>
                    </a:rPr>
                    <a:t>Delivery</a:t>
                  </a:r>
                  <a:endParaRPr lang="en-US" sz="1200" dirty="0"/>
                </a:p>
              </p:txBody>
            </p:sp>
            <p:sp>
              <p:nvSpPr>
                <p:cNvPr id="54" name="Shape 51"/>
                <p:cNvSpPr/>
                <p:nvPr/>
              </p:nvSpPr>
              <p:spPr>
                <a:xfrm>
                  <a:off x="921138" y="4768897"/>
                  <a:ext cx="457200" cy="0"/>
                </a:xfrm>
                <a:prstGeom prst="line">
                  <a:avLst/>
                </a:prstGeom>
                <a:noFill/>
                <a:ln w="10160">
                  <a:solidFill>
                    <a:srgbClr val="111111"/>
                  </a:solidFill>
                  <a:prstDash val="solid"/>
                </a:ln>
              </p:spPr>
            </p:sp>
            <p:sp>
              <p:nvSpPr>
                <p:cNvPr id="55" name="Shape 52"/>
                <p:cNvSpPr/>
                <p:nvPr/>
              </p:nvSpPr>
              <p:spPr>
                <a:xfrm>
                  <a:off x="856295" y="5299671"/>
                  <a:ext cx="457200" cy="0"/>
                </a:xfrm>
                <a:prstGeom prst="line">
                  <a:avLst/>
                </a:prstGeom>
                <a:noFill/>
                <a:ln w="10160">
                  <a:solidFill>
                    <a:srgbClr val="111111"/>
                  </a:solidFill>
                  <a:prstDash val="solid"/>
                </a:ln>
              </p:spPr>
            </p:sp>
            <p:sp>
              <p:nvSpPr>
                <p:cNvPr id="56" name="Shape 53"/>
                <p:cNvSpPr/>
                <p:nvPr/>
              </p:nvSpPr>
              <p:spPr>
                <a:xfrm>
                  <a:off x="4307766" y="4768898"/>
                  <a:ext cx="914400" cy="0"/>
                </a:xfrm>
                <a:prstGeom prst="line">
                  <a:avLst/>
                </a:prstGeom>
                <a:noFill/>
                <a:ln w="10160">
                  <a:solidFill>
                    <a:srgbClr val="111111"/>
                  </a:solidFill>
                  <a:prstDash val="solid"/>
                </a:ln>
              </p:spPr>
            </p:sp>
            <p:sp>
              <p:nvSpPr>
                <p:cNvPr id="57" name="Shape 54"/>
                <p:cNvSpPr/>
                <p:nvPr/>
              </p:nvSpPr>
              <p:spPr>
                <a:xfrm>
                  <a:off x="4307766" y="5337827"/>
                  <a:ext cx="914400" cy="0"/>
                </a:xfrm>
                <a:prstGeom prst="line">
                  <a:avLst/>
                </a:prstGeom>
                <a:noFill/>
                <a:ln w="10160">
                  <a:solidFill>
                    <a:srgbClr val="111111"/>
                  </a:solidFill>
                  <a:prstDash val="solid"/>
                </a:ln>
              </p:spPr>
            </p:sp>
          </p:grpSp>
        </p:grp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9569A92C-4185-805D-CD15-A784B78F5AA2}"/>
                </a:ext>
              </a:extLst>
            </p:cNvPr>
            <p:cNvCxnSpPr/>
            <p:nvPr/>
          </p:nvCxnSpPr>
          <p:spPr>
            <a:xfrm flipH="1" flipV="1">
              <a:off x="851774" y="4855935"/>
              <a:ext cx="21982" cy="441762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53F250F-5F1D-5A3D-7DE7-A0BF6B4495CF}"/>
                </a:ext>
              </a:extLst>
            </p:cNvPr>
            <p:cNvCxnSpPr/>
            <p:nvPr/>
          </p:nvCxnSpPr>
          <p:spPr>
            <a:xfrm flipV="1">
              <a:off x="5242982" y="4917433"/>
              <a:ext cx="272269" cy="410069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269C42A-69A0-6075-F802-1BDFCF1A5570}"/>
              </a:ext>
            </a:extLst>
          </p:cNvPr>
          <p:cNvGrpSpPr/>
          <p:nvPr/>
        </p:nvGrpSpPr>
        <p:grpSpPr>
          <a:xfrm>
            <a:off x="2152593" y="2836226"/>
            <a:ext cx="2116473" cy="504419"/>
            <a:chOff x="2095727" y="2813480"/>
            <a:chExt cx="2116473" cy="504419"/>
          </a:xfrm>
        </p:grpSpPr>
        <p:sp>
          <p:nvSpPr>
            <p:cNvPr id="33" name="Shape 30"/>
            <p:cNvSpPr/>
            <p:nvPr/>
          </p:nvSpPr>
          <p:spPr>
            <a:xfrm>
              <a:off x="2095727" y="2813480"/>
              <a:ext cx="2116473" cy="504419"/>
            </a:xfrm>
            <a:prstGeom prst="roundRect">
              <a:avLst>
                <a:gd name="adj" fmla="val 17647"/>
              </a:avLst>
            </a:prstGeom>
            <a:solidFill>
              <a:srgbClr val="168446"/>
            </a:solidFill>
            <a:ln w="12700">
              <a:solidFill>
                <a:srgbClr val="168446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81" name="Text 35">
              <a:extLst>
                <a:ext uri="{FF2B5EF4-FFF2-40B4-BE49-F238E27FC236}">
                  <a16:creationId xmlns:a16="http://schemas.microsoft.com/office/drawing/2014/main" id="{19CCADC2-1736-8938-FE10-5C26D1525689}"/>
                </a:ext>
              </a:extLst>
            </p:cNvPr>
            <p:cNvSpPr/>
            <p:nvPr/>
          </p:nvSpPr>
          <p:spPr>
            <a:xfrm>
              <a:off x="2385645" y="2991814"/>
              <a:ext cx="1536192" cy="14630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  <a:latin typeface="Arial"/>
                  <a:cs typeface="Arial"/>
                </a:rPr>
                <a:t>MAPS/OSM</a:t>
              </a:r>
              <a:endParaRPr lang="en-US" sz="1400">
                <a:cs typeface="Arial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0338D3F-52E2-5685-7EA9-58A05EA8BB5F}"/>
              </a:ext>
            </a:extLst>
          </p:cNvPr>
          <p:cNvGrpSpPr/>
          <p:nvPr/>
        </p:nvGrpSpPr>
        <p:grpSpPr>
          <a:xfrm>
            <a:off x="4340207" y="2858972"/>
            <a:ext cx="2394373" cy="480229"/>
            <a:chOff x="4033133" y="2870345"/>
            <a:chExt cx="2394373" cy="480229"/>
          </a:xfrm>
        </p:grpSpPr>
        <p:sp>
          <p:nvSpPr>
            <p:cNvPr id="36" name="Text 33"/>
            <p:cNvSpPr/>
            <p:nvPr/>
          </p:nvSpPr>
          <p:spPr>
            <a:xfrm>
              <a:off x="4033133" y="3001020"/>
              <a:ext cx="2288176" cy="206781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UPI / Razorpay</a:t>
              </a:r>
              <a:endParaRPr lang="en-US" sz="1600" dirty="0"/>
            </a:p>
          </p:txBody>
        </p:sp>
        <p:sp>
          <p:nvSpPr>
            <p:cNvPr id="35" name="Shape 32"/>
            <p:cNvSpPr/>
            <p:nvPr/>
          </p:nvSpPr>
          <p:spPr>
            <a:xfrm>
              <a:off x="4120461" y="2870345"/>
              <a:ext cx="2307045" cy="480229"/>
            </a:xfrm>
            <a:prstGeom prst="roundRect">
              <a:avLst>
                <a:gd name="adj" fmla="val 17647"/>
              </a:avLst>
            </a:prstGeom>
            <a:solidFill>
              <a:srgbClr val="F28C28"/>
            </a:solidFill>
            <a:ln w="12700">
              <a:solidFill>
                <a:srgbClr val="F28C28"/>
              </a:solidFill>
              <a:prstDash val="solid"/>
            </a:ln>
            <a:effectLst>
              <a:outerShdw blurRad="12700" dist="50800" dir="2700000" algn="bl" rotWithShape="0">
                <a:srgbClr val="000000">
                  <a:alpha val="20000"/>
                </a:srgbClr>
              </a:outerShdw>
            </a:effectLst>
          </p:spPr>
        </p:sp>
        <p:sp>
          <p:nvSpPr>
            <p:cNvPr id="82" name="Text 35">
              <a:extLst>
                <a:ext uri="{FF2B5EF4-FFF2-40B4-BE49-F238E27FC236}">
                  <a16:creationId xmlns:a16="http://schemas.microsoft.com/office/drawing/2014/main" id="{1E8436A9-C36C-8386-C992-F2275BF65974}"/>
                </a:ext>
              </a:extLst>
            </p:cNvPr>
            <p:cNvSpPr/>
            <p:nvPr/>
          </p:nvSpPr>
          <p:spPr>
            <a:xfrm>
              <a:off x="4512420" y="3014561"/>
              <a:ext cx="1536192" cy="146304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/>
                  <a:ea typeface="Arial" pitchFamily="34" charset="-122"/>
                  <a:cs typeface="Arial"/>
                </a:rPr>
                <a:t>UPI/ </a:t>
              </a:r>
              <a:r>
                <a:rPr lang="en-US" sz="1400" b="1" dirty="0" err="1">
                  <a:solidFill>
                    <a:srgbClr val="FFFFFF"/>
                  </a:solidFill>
                  <a:latin typeface="Arial"/>
                  <a:ea typeface="Arial" pitchFamily="34" charset="-122"/>
                  <a:cs typeface="Arial"/>
                </a:rPr>
                <a:t>Razorpay</a:t>
              </a:r>
              <a:endParaRPr lang="en-US" sz="1400" dirty="0" err="1">
                <a:latin typeface="Arial"/>
                <a:cs typeface="Arial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4203A66-736C-C6DF-DBF6-A4E354C63F82}"/>
              </a:ext>
            </a:extLst>
          </p:cNvPr>
          <p:cNvGrpSpPr/>
          <p:nvPr/>
        </p:nvGrpSpPr>
        <p:grpSpPr>
          <a:xfrm>
            <a:off x="9700000" y="176686"/>
            <a:ext cx="2628295" cy="729488"/>
            <a:chOff x="9857232" y="164592"/>
            <a:chExt cx="1600200" cy="475488"/>
          </a:xfrm>
        </p:grpSpPr>
        <p:pic>
          <p:nvPicPr>
            <p:cNvPr id="88" name="Image 0" descr="/mnt/data/sih_top_icon.png">
              <a:extLst>
                <a:ext uri="{FF2B5EF4-FFF2-40B4-BE49-F238E27FC236}">
                  <a16:creationId xmlns:a16="http://schemas.microsoft.com/office/drawing/2014/main" id="{DED6A7BF-03A7-0DA3-09FC-75AD9E600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57232" y="164592"/>
              <a:ext cx="475488" cy="475488"/>
            </a:xfrm>
            <a:prstGeom prst="rect">
              <a:avLst/>
            </a:prstGeom>
          </p:spPr>
        </p:pic>
        <p:sp>
          <p:nvSpPr>
            <p:cNvPr id="89" name="Text 2">
              <a:extLst>
                <a:ext uri="{FF2B5EF4-FFF2-40B4-BE49-F238E27FC236}">
                  <a16:creationId xmlns:a16="http://schemas.microsoft.com/office/drawing/2014/main" id="{94D06519-7E00-C3D5-27A3-9C0AFD655B74}"/>
                </a:ext>
              </a:extLst>
            </p:cNvPr>
            <p:cNvSpPr/>
            <p:nvPr/>
          </p:nvSpPr>
          <p:spPr>
            <a:xfrm>
              <a:off x="10405872" y="173736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 INDIA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HACKATHON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2026</a:t>
              </a:r>
              <a:endParaRPr lang="en-US" sz="1600" dirty="0"/>
            </a:p>
          </p:txBody>
        </p:sp>
      </p:grpSp>
      <p:sp>
        <p:nvSpPr>
          <p:cNvPr id="92" name="Shape 3">
            <a:extLst>
              <a:ext uri="{FF2B5EF4-FFF2-40B4-BE49-F238E27FC236}">
                <a16:creationId xmlns:a16="http://schemas.microsoft.com/office/drawing/2014/main" id="{28B60FE3-FC93-65C1-6174-4D3A991F7A3E}"/>
              </a:ext>
            </a:extLst>
          </p:cNvPr>
          <p:cNvSpPr/>
          <p:nvPr/>
        </p:nvSpPr>
        <p:spPr>
          <a:xfrm>
            <a:off x="2815442" y="148988"/>
            <a:ext cx="629107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EEEEEE"/>
            </a:solidFill>
            <a:prstDash val="solid"/>
          </a:ln>
          <a:effectLst>
            <a:outerShdw blurRad="127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943458" y="287766"/>
            <a:ext cx="6083420" cy="4982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3D100DF-966D-2C86-92C3-6D7FA12CD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82" y="3866866"/>
            <a:ext cx="3803349" cy="2991136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096C016B-434F-3940-330F-5AAA72A75C14}"/>
              </a:ext>
            </a:extLst>
          </p:cNvPr>
          <p:cNvSpPr txBox="1"/>
          <p:nvPr/>
        </p:nvSpPr>
        <p:spPr>
          <a:xfrm>
            <a:off x="7494509" y="3440025"/>
            <a:ext cx="18395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cs typeface="Arial"/>
              </a:rPr>
              <a:t>TECH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2633472" y="228600"/>
            <a:ext cx="629107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EEEEEE"/>
            </a:solidFill>
            <a:prstDash val="solid"/>
          </a:ln>
          <a:effectLst>
            <a:outerShdw blurRad="127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61488" y="393192"/>
            <a:ext cx="6035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539728" y="6547104"/>
            <a:ext cx="2808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A492A2-CE9C-FAC0-E87D-3DBCBA7129B4}"/>
              </a:ext>
            </a:extLst>
          </p:cNvPr>
          <p:cNvGrpSpPr/>
          <p:nvPr/>
        </p:nvGrpSpPr>
        <p:grpSpPr>
          <a:xfrm>
            <a:off x="515015" y="1185720"/>
            <a:ext cx="10543757" cy="1999344"/>
            <a:chOff x="502920" y="1572768"/>
            <a:chExt cx="10049256" cy="3886200"/>
          </a:xfrm>
        </p:grpSpPr>
        <p:sp>
          <p:nvSpPr>
            <p:cNvPr id="12" name="Shape 9"/>
            <p:cNvSpPr/>
            <p:nvPr/>
          </p:nvSpPr>
          <p:spPr>
            <a:xfrm>
              <a:off x="502920" y="1572768"/>
              <a:ext cx="3182112" cy="3886200"/>
            </a:xfrm>
            <a:prstGeom prst="roundRect">
              <a:avLst>
                <a:gd name="adj" fmla="val 1724"/>
              </a:avLst>
            </a:prstGeom>
            <a:solidFill>
              <a:srgbClr val="FFFFFF"/>
            </a:solidFill>
            <a:ln w="12700">
              <a:solidFill>
                <a:srgbClr val="168446"/>
              </a:solidFill>
              <a:prstDash val="solid"/>
            </a:ln>
            <a:effectLst>
              <a:outerShdw blurRad="19050" dist="508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3" name="Text 10"/>
            <p:cNvSpPr/>
            <p:nvPr/>
          </p:nvSpPr>
          <p:spPr>
            <a:xfrm>
              <a:off x="777240" y="1938528"/>
              <a:ext cx="2633472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6844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TECHNICAL FEASIBILITY</a:t>
              </a:r>
              <a:endParaRPr lang="en-US" sz="14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788375" y="2602117"/>
              <a:ext cx="2491153" cy="231338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React + </a:t>
              </a:r>
              <a:r>
                <a:rPr lang="en-US" sz="1200" dirty="0" err="1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FastAPI</a:t>
              </a: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 → rapid prototype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Scikit-learn → lightweight price model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PostgreSQL → transactional integrity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Maps / OSM → routing + geolocation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UPI / </a:t>
              </a:r>
              <a:r>
                <a:rPr lang="en-US" sz="1200" dirty="0" err="1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Razorpay</a:t>
              </a: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 → practical payment layer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5" name="Shape 12"/>
            <p:cNvSpPr/>
            <p:nvPr/>
          </p:nvSpPr>
          <p:spPr>
            <a:xfrm>
              <a:off x="4187952" y="1572768"/>
              <a:ext cx="3182112" cy="3886200"/>
            </a:xfrm>
            <a:prstGeom prst="roundRect">
              <a:avLst>
                <a:gd name="adj" fmla="val 1724"/>
              </a:avLst>
            </a:prstGeom>
            <a:solidFill>
              <a:srgbClr val="FFFFFF"/>
            </a:solidFill>
            <a:ln w="12700">
              <a:solidFill>
                <a:srgbClr val="F28C28"/>
              </a:solidFill>
              <a:prstDash val="solid"/>
            </a:ln>
            <a:effectLst>
              <a:outerShdw blurRad="19050" dist="50800" dir="27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16" name="Text 13"/>
            <p:cNvSpPr/>
            <p:nvPr/>
          </p:nvSpPr>
          <p:spPr>
            <a:xfrm>
              <a:off x="4462272" y="1938528"/>
              <a:ext cx="2633472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28C28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CHALLENGE → MITIGATION</a:t>
              </a:r>
              <a:endParaRPr lang="en-US" sz="14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4404240" y="2602117"/>
              <a:ext cx="2848519" cy="254189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Digital literacy → simple mobile-first UX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Buyer trust → verification + ratings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Small-lot logistics → nearby-order batching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Limited data → baseline sample/synthetic</a:t>
              </a:r>
              <a:endParaRPr lang="en-US" sz="1200">
                <a:latin typeface="Arial"/>
                <a:cs typeface="Arial"/>
              </a:endParaRPr>
            </a:p>
            <a:p>
              <a:pPr marL="0" indent="0" algn="l">
                <a:lnSpc>
                  <a:spcPct val="105000"/>
                </a:lnSpc>
                <a:buNone/>
              </a:pPr>
              <a:r>
                <a:rPr lang="en-US" sz="1200" dirty="0">
                  <a:solidFill>
                    <a:srgbClr val="111111"/>
                  </a:solidFill>
                  <a:latin typeface="Arial"/>
                  <a:ea typeface="Arial" pitchFamily="34" charset="-122"/>
                  <a:cs typeface="Arial"/>
                </a:rPr>
                <a:t>dataset</a:t>
              </a:r>
              <a:endParaRPr lang="en-US" sz="1200">
                <a:latin typeface="Arial"/>
                <a:cs typeface="Arial"/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7918704" y="1938528"/>
              <a:ext cx="2633472" cy="256032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t">
              <a:noAutofit/>
            </a:bodyPr>
            <a:lstStyle/>
            <a:p>
              <a:pPr marL="0" indent="0" algn="ctr">
                <a:buNone/>
              </a:pPr>
              <a:endParaRPr lang="en-US" sz="1400" b="1" dirty="0">
                <a:solidFill>
                  <a:srgbClr val="0B3F6B"/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A35427-E44A-DFF7-8678-431C9BA85B80}"/>
              </a:ext>
            </a:extLst>
          </p:cNvPr>
          <p:cNvGrpSpPr/>
          <p:nvPr/>
        </p:nvGrpSpPr>
        <p:grpSpPr>
          <a:xfrm>
            <a:off x="82381" y="176058"/>
            <a:ext cx="1709722" cy="494687"/>
            <a:chOff x="82381" y="-5371"/>
            <a:chExt cx="1709722" cy="494687"/>
          </a:xfrm>
        </p:grpSpPr>
        <p:sp>
          <p:nvSpPr>
            <p:cNvPr id="23" name="Text 1">
              <a:extLst>
                <a:ext uri="{FF2B5EF4-FFF2-40B4-BE49-F238E27FC236}">
                  <a16:creationId xmlns:a16="http://schemas.microsoft.com/office/drawing/2014/main" id="{F7572702-5304-05DA-26B9-1CDE50B1EE7F}"/>
                </a:ext>
              </a:extLst>
            </p:cNvPr>
            <p:cNvSpPr/>
            <p:nvPr/>
          </p:nvSpPr>
          <p:spPr>
            <a:xfrm>
              <a:off x="269288" y="-5371"/>
              <a:ext cx="1322976" cy="47935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B3F6B"/>
                  </a:solidFill>
                  <a:latin typeface="Times New Roman"/>
                  <a:cs typeface="Times New Roman"/>
                </a:rPr>
                <a:t>SINISTERSIX</a:t>
              </a:r>
              <a:endParaRPr lang="en-US" sz="14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6F3603D-8330-9624-8601-624B76E69DC3}"/>
                </a:ext>
              </a:extLst>
            </p:cNvPr>
            <p:cNvSpPr/>
            <p:nvPr/>
          </p:nvSpPr>
          <p:spPr>
            <a:xfrm>
              <a:off x="82381" y="670"/>
              <a:ext cx="1709722" cy="48864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Shape 9">
            <a:extLst>
              <a:ext uri="{FF2B5EF4-FFF2-40B4-BE49-F238E27FC236}">
                <a16:creationId xmlns:a16="http://schemas.microsoft.com/office/drawing/2014/main" id="{9461D3BC-3A1A-99EC-6A45-BD2DC33FAD6B}"/>
              </a:ext>
            </a:extLst>
          </p:cNvPr>
          <p:cNvSpPr/>
          <p:nvPr/>
        </p:nvSpPr>
        <p:spPr>
          <a:xfrm>
            <a:off x="8202748" y="1180882"/>
            <a:ext cx="3338696" cy="199934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168446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A8BF612-A6EF-059B-806C-800551FF4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690" t="-4423" r="4059" b="4615"/>
          <a:stretch>
            <a:fillRect/>
          </a:stretch>
        </p:blipFill>
        <p:spPr>
          <a:xfrm>
            <a:off x="2188557" y="3418416"/>
            <a:ext cx="1755214" cy="30812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8B7A232-07B4-4AA5-D833-666027012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749" y="3454326"/>
            <a:ext cx="1721457" cy="303363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8BE9D13-EF7B-25B9-D7FA-40FD2A2FC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180" y="3455458"/>
            <a:ext cx="1801736" cy="301927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AC08B5B-BF7D-1567-4BC8-EAD1DC1F6B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219" y="3454326"/>
            <a:ext cx="1788132" cy="300944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865CB41-097B-22E9-C5B6-461287F7AB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7113" y="3471335"/>
            <a:ext cx="1803965" cy="301171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32D90A2-4864-C218-94BF-79C70170A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07" y="3425750"/>
            <a:ext cx="1877182" cy="313917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DC2EDE0B-43EE-2BC0-C2FE-7BA3D0C3BD7E}"/>
              </a:ext>
            </a:extLst>
          </p:cNvPr>
          <p:cNvSpPr txBox="1"/>
          <p:nvPr/>
        </p:nvSpPr>
        <p:spPr>
          <a:xfrm>
            <a:off x="8200572" y="1566332"/>
            <a:ext cx="3314095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5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Government/Agri official monitoring dashboard 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05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Advanced demand forecasting (time-series model) </a:t>
            </a:r>
          </a:p>
          <a:p>
            <a:pPr marL="171450" indent="-171450">
              <a:buFont typeface="Arial"/>
              <a:buChar char="•"/>
            </a:pPr>
            <a:r>
              <a:rPr lang="en-US" sz="105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Full KYC/Aadhaar-based buyer verification </a:t>
            </a:r>
          </a:p>
          <a:p>
            <a:pPr marL="171450" indent="-171450">
              <a:buFont typeface="Arial"/>
              <a:buChar char="•"/>
            </a:pPr>
            <a:r>
              <a:rPr lang="en-US" sz="105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Multi-language/voice interface for farmers </a:t>
            </a:r>
          </a:p>
          <a:p>
            <a:pPr marL="171450" indent="-171450">
              <a:buFont typeface="Arial"/>
              <a:buChar char="•"/>
            </a:pPr>
            <a:r>
              <a:rPr lang="en-US" sz="105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Escrow-based payment holding </a:t>
            </a: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000000"/>
                </a:solidFill>
                <a:latin typeface="Arial"/>
                <a:cs typeface="Arial"/>
              </a:rPr>
              <a:t>SMS/WhatsApp-based listing for low-smartphone-literacy farmers </a:t>
            </a:r>
            <a:endParaRPr lang="en-US"/>
          </a:p>
          <a:p>
            <a:endParaRPr lang="en-US" sz="2400" dirty="0">
              <a:cs typeface="Arial"/>
            </a:endParaRPr>
          </a:p>
          <a:p>
            <a:pPr marL="342900" indent="-342900" algn="ctr">
              <a:buFont typeface="Arial"/>
              <a:buChar char="•"/>
            </a:pPr>
            <a:endParaRPr lang="en-US" sz="2400" dirty="0">
              <a:cs typeface="Arial"/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A5677E52-4052-805B-D62C-94194A2F3DAE}"/>
              </a:ext>
            </a:extLst>
          </p:cNvPr>
          <p:cNvSpPr/>
          <p:nvPr/>
        </p:nvSpPr>
        <p:spPr>
          <a:xfrm>
            <a:off x="8498550" y="1296484"/>
            <a:ext cx="2763059" cy="1317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ctr"/>
            <a:r>
              <a:rPr lang="en-US" sz="1400" b="1">
                <a:solidFill>
                  <a:schemeClr val="accent6"/>
                </a:solidFill>
                <a:cs typeface="Arial"/>
              </a:rPr>
              <a:t>FUTURE FEATURES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580CE45-B823-2AE4-FF6E-8488E6A19DA4}"/>
              </a:ext>
            </a:extLst>
          </p:cNvPr>
          <p:cNvGrpSpPr/>
          <p:nvPr/>
        </p:nvGrpSpPr>
        <p:grpSpPr>
          <a:xfrm>
            <a:off x="9700000" y="176686"/>
            <a:ext cx="2628295" cy="729488"/>
            <a:chOff x="9857232" y="164592"/>
            <a:chExt cx="1600200" cy="475488"/>
          </a:xfrm>
        </p:grpSpPr>
        <p:pic>
          <p:nvPicPr>
            <p:cNvPr id="45" name="Image 0" descr="/mnt/data/sih_top_icon.png">
              <a:extLst>
                <a:ext uri="{FF2B5EF4-FFF2-40B4-BE49-F238E27FC236}">
                  <a16:creationId xmlns:a16="http://schemas.microsoft.com/office/drawing/2014/main" id="{041D0ED5-3D29-BC87-6B73-FABA1A0E3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857232" y="164592"/>
              <a:ext cx="475488" cy="475488"/>
            </a:xfrm>
            <a:prstGeom prst="rect">
              <a:avLst/>
            </a:prstGeom>
          </p:spPr>
        </p:pic>
        <p:sp>
          <p:nvSpPr>
            <p:cNvPr id="46" name="Text 2">
              <a:extLst>
                <a:ext uri="{FF2B5EF4-FFF2-40B4-BE49-F238E27FC236}">
                  <a16:creationId xmlns:a16="http://schemas.microsoft.com/office/drawing/2014/main" id="{349B5787-BEAA-F1FE-CD2C-714482C824DB}"/>
                </a:ext>
              </a:extLst>
            </p:cNvPr>
            <p:cNvSpPr/>
            <p:nvPr/>
          </p:nvSpPr>
          <p:spPr>
            <a:xfrm>
              <a:off x="10405872" y="173736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 INDIA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HACKATHON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2026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2633472" y="228600"/>
            <a:ext cx="629107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EEEEEE"/>
            </a:solidFill>
            <a:prstDash val="solid"/>
          </a:ln>
          <a:effectLst>
            <a:outerShdw blurRad="127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61488" y="393192"/>
            <a:ext cx="6035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892040" y="6574536"/>
            <a:ext cx="2560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DCEF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539728" y="6547104"/>
            <a:ext cx="3291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" y="1481328"/>
            <a:ext cx="303580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168446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27069" y="1683367"/>
            <a:ext cx="24871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68446"/>
                </a:solidFill>
                <a:latin typeface="Arial"/>
                <a:ea typeface="Arial" pitchFamily="34" charset="-122"/>
                <a:cs typeface="Arial"/>
              </a:rPr>
              <a:t>🌾 FARMERS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48896" y="2041435"/>
            <a:ext cx="2437335" cy="102180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Direct buyer access</a:t>
            </a:r>
            <a:endParaRPr lang="en-US" sz="1400">
              <a:latin typeface="Arial"/>
              <a:cs typeface="Arial"/>
            </a:endParaRPr>
          </a:p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AI fair-price guidance</a:t>
            </a:r>
            <a:endParaRPr lang="en-US" sz="1400">
              <a:latin typeface="Arial"/>
              <a:cs typeface="Arial"/>
            </a:endParaRPr>
          </a:p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Better price discovery</a:t>
            </a:r>
            <a:endParaRPr lang="en-US" sz="1400">
              <a:latin typeface="Arial"/>
              <a:cs typeface="Arial"/>
            </a:endParaRPr>
          </a:p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Organized logistics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251960" y="1481328"/>
            <a:ext cx="303580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0B3F6B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26280" y="1792224"/>
            <a:ext cx="24871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BUYERS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639248" y="2162388"/>
            <a:ext cx="2413146" cy="16749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Direct-from-farm sourcing</a:t>
            </a:r>
            <a:endParaRPr lang="en-US" sz="1400">
              <a:latin typeface="Arial"/>
              <a:cs typeface="Arial"/>
            </a:endParaRPr>
          </a:p>
          <a:p>
            <a:pPr marL="171450" indent="-1714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Transparent price comparison</a:t>
            </a:r>
            <a:endParaRPr lang="en-US" sz="1400">
              <a:latin typeface="Arial"/>
              <a:cs typeface="Arial"/>
            </a:endParaRPr>
          </a:p>
          <a:p>
            <a:pPr marL="171450" indent="-1714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Origin / quality visibility</a:t>
            </a:r>
            <a:endParaRPr lang="en-US" sz="1400">
              <a:latin typeface="Arial"/>
              <a:cs typeface="Arial"/>
            </a:endParaRPr>
          </a:p>
          <a:p>
            <a:pPr marL="171450" indent="-171450">
              <a:lnSpc>
                <a:spcPct val="96000"/>
              </a:lnSpc>
              <a:buFont typeface="Arial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Verified suppliers</a:t>
            </a:r>
            <a:endParaRPr lang="en-US" sz="1400">
              <a:latin typeface="Arial"/>
              <a:cs typeface="Arial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818120" y="1481328"/>
            <a:ext cx="303580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  <a:effectLst>
            <a:outerShdw blurRad="19050" dist="508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044059" y="1792224"/>
            <a:ext cx="24871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28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LOGISTICS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169125" y="2162386"/>
            <a:ext cx="2364763" cy="8945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Batch nearby pickups</a:t>
            </a:r>
            <a:endParaRPr lang="en-US" sz="1600">
              <a:latin typeface="Arial"/>
              <a:cs typeface="Arial"/>
            </a:endParaRPr>
          </a:p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Optimized routes</a:t>
            </a:r>
            <a:endParaRPr lang="en-US" sz="1600">
              <a:latin typeface="Arial"/>
              <a:cs typeface="Arial"/>
            </a:endParaRPr>
          </a:p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Lower empty travel</a:t>
            </a:r>
            <a:endParaRPr lang="en-US" sz="1600">
              <a:latin typeface="Arial"/>
              <a:cs typeface="Arial"/>
            </a:endParaRPr>
          </a:p>
          <a:p>
            <a:pPr marL="285750" indent="-285750">
              <a:lnSpc>
                <a:spcPct val="96000"/>
              </a:lnSpc>
              <a:buFont typeface="Arial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/>
                <a:ea typeface="Arial" pitchFamily="34" charset="-122"/>
                <a:cs typeface="Arial"/>
              </a:rPr>
              <a:t>Less delay / spoilage</a:t>
            </a:r>
            <a:endParaRPr lang="en-US" sz="1600">
              <a:latin typeface="Arial"/>
              <a:cs typeface="Arial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64270" y="3578497"/>
            <a:ext cx="2834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PROTOTYPE-STAGE TARGETS</a:t>
            </a:r>
            <a:endParaRPr lang="en-US" sz="1450" dirty="0"/>
          </a:p>
        </p:txBody>
      </p:sp>
      <p:sp>
        <p:nvSpPr>
          <p:cNvPr id="38" name="Text 35"/>
          <p:cNvSpPr/>
          <p:nvPr/>
        </p:nvSpPr>
        <p:spPr>
          <a:xfrm>
            <a:off x="3584448" y="5806440"/>
            <a:ext cx="5074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are prototype-stage simulation targets, not guaranteed real-world outcomes.</a:t>
            </a:r>
            <a:endParaRPr lang="en-US" sz="7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CA1CFDA-0784-02E9-34DF-E29760E62DD3}"/>
              </a:ext>
            </a:extLst>
          </p:cNvPr>
          <p:cNvGrpSpPr/>
          <p:nvPr/>
        </p:nvGrpSpPr>
        <p:grpSpPr>
          <a:xfrm>
            <a:off x="94476" y="224439"/>
            <a:ext cx="1709722" cy="494687"/>
            <a:chOff x="82381" y="-5371"/>
            <a:chExt cx="1709722" cy="494687"/>
          </a:xfrm>
        </p:grpSpPr>
        <p:sp>
          <p:nvSpPr>
            <p:cNvPr id="40" name="Text 1">
              <a:extLst>
                <a:ext uri="{FF2B5EF4-FFF2-40B4-BE49-F238E27FC236}">
                  <a16:creationId xmlns:a16="http://schemas.microsoft.com/office/drawing/2014/main" id="{EF270D35-F42C-F39B-FE31-11ED54781322}"/>
                </a:ext>
              </a:extLst>
            </p:cNvPr>
            <p:cNvSpPr/>
            <p:nvPr/>
          </p:nvSpPr>
          <p:spPr>
            <a:xfrm>
              <a:off x="269288" y="-5371"/>
              <a:ext cx="1322976" cy="47935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B3F6B"/>
                  </a:solidFill>
                  <a:latin typeface="Times New Roman"/>
                  <a:cs typeface="Times New Roman"/>
                </a:rPr>
                <a:t>SINISTERSIX</a:t>
              </a:r>
              <a:endParaRPr lang="en-US" sz="1400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96F6EF9-9BEE-6D16-056B-AD480555ECD1}"/>
                </a:ext>
              </a:extLst>
            </p:cNvPr>
            <p:cNvSpPr/>
            <p:nvPr/>
          </p:nvSpPr>
          <p:spPr>
            <a:xfrm>
              <a:off x="82381" y="670"/>
              <a:ext cx="1709722" cy="48864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5E65009C-E4E2-6752-07BB-71FBA143B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2" b="-538"/>
          <a:stretch>
            <a:fillRect/>
          </a:stretch>
        </p:blipFill>
        <p:spPr>
          <a:xfrm>
            <a:off x="554946" y="3981526"/>
            <a:ext cx="10586190" cy="2245370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345FAFAB-EBA9-AC75-13F4-668C8C3A5D3D}"/>
              </a:ext>
            </a:extLst>
          </p:cNvPr>
          <p:cNvGrpSpPr/>
          <p:nvPr/>
        </p:nvGrpSpPr>
        <p:grpSpPr>
          <a:xfrm>
            <a:off x="9700000" y="176686"/>
            <a:ext cx="2628295" cy="729488"/>
            <a:chOff x="9857232" y="164592"/>
            <a:chExt cx="1600200" cy="475488"/>
          </a:xfrm>
        </p:grpSpPr>
        <p:pic>
          <p:nvPicPr>
            <p:cNvPr id="49" name="Image 0" descr="/mnt/data/sih_top_icon.png">
              <a:extLst>
                <a:ext uri="{FF2B5EF4-FFF2-40B4-BE49-F238E27FC236}">
                  <a16:creationId xmlns:a16="http://schemas.microsoft.com/office/drawing/2014/main" id="{4FC1AB0A-3FA5-47CA-BDB7-27678580B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57232" y="164592"/>
              <a:ext cx="475488" cy="475488"/>
            </a:xfrm>
            <a:prstGeom prst="rect">
              <a:avLst/>
            </a:prstGeom>
          </p:spPr>
        </p:pic>
        <p:sp>
          <p:nvSpPr>
            <p:cNvPr id="50" name="Text 2">
              <a:extLst>
                <a:ext uri="{FF2B5EF4-FFF2-40B4-BE49-F238E27FC236}">
                  <a16:creationId xmlns:a16="http://schemas.microsoft.com/office/drawing/2014/main" id="{CB1F90C2-087E-76F5-4F5B-FE46847CFE0F}"/>
                </a:ext>
              </a:extLst>
            </p:cNvPr>
            <p:cNvSpPr/>
            <p:nvPr/>
          </p:nvSpPr>
          <p:spPr>
            <a:xfrm>
              <a:off x="10405872" y="173736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 INDIA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HACKATHON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2026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2633472" y="228600"/>
            <a:ext cx="6291072" cy="667512"/>
          </a:xfrm>
          <a:prstGeom prst="rect">
            <a:avLst/>
          </a:prstGeom>
          <a:solidFill>
            <a:srgbClr val="FFFFFF"/>
          </a:solidFill>
          <a:ln w="7620">
            <a:solidFill>
              <a:srgbClr val="EEEEEE"/>
            </a:solidFill>
            <a:prstDash val="solid"/>
          </a:ln>
          <a:effectLst>
            <a:outerShdw blurRad="12700" dist="508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61488" y="393192"/>
            <a:ext cx="6035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3F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539728" y="6547104"/>
            <a:ext cx="32918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6888" y="1078992"/>
            <a:ext cx="11686032" cy="5285232"/>
          </a:xfrm>
          <a:prstGeom prst="roundRect">
            <a:avLst>
              <a:gd name="adj" fmla="val 1038"/>
            </a:avLst>
          </a:prstGeom>
          <a:solidFill>
            <a:srgbClr val="FFFFFF"/>
          </a:solidFill>
          <a:ln w="7620">
            <a:solidFill>
              <a:srgbClr val="E9E9E9"/>
            </a:solidFill>
            <a:prstDash val="solid"/>
          </a:ln>
          <a:effectLst>
            <a:outerShdw blurRad="12700" dist="50800" dir="27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0352" y="1280160"/>
            <a:ext cx="2788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8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BASIS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30352" y="1627632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11430">
            <a:solidFill>
              <a:srgbClr val="2F5F88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1">
            <a:hlinkClick r:id="rId3"/>
          </p:cNvPr>
          <p:cNvSpPr/>
          <p:nvPr/>
        </p:nvSpPr>
        <p:spPr>
          <a:xfrm>
            <a:off x="713232" y="1719072"/>
            <a:ext cx="3931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NABARD — e-NAM participation study</a:t>
            </a:r>
            <a:endParaRPr lang="en-US" sz="820" dirty="0"/>
          </a:p>
        </p:txBody>
      </p:sp>
      <p:sp>
        <p:nvSpPr>
          <p:cNvPr id="15" name="Text 12">
            <a:hlinkClick r:id="rId3"/>
          </p:cNvPr>
          <p:cNvSpPr/>
          <p:nvPr/>
        </p:nvSpPr>
        <p:spPr>
          <a:xfrm>
            <a:off x="713232" y="1901952"/>
            <a:ext cx="48920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www.nabard.org/Publication.aspx?cid=50&amp;csrt=17113928875636088101&amp;id=24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530352" y="2249424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11430">
            <a:solidFill>
              <a:srgbClr val="2F5F88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4">
            <a:hlinkClick r:id="rId4"/>
          </p:cNvPr>
          <p:cNvSpPr/>
          <p:nvPr/>
        </p:nvSpPr>
        <p:spPr>
          <a:xfrm>
            <a:off x="713232" y="2340864"/>
            <a:ext cx="3931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ICAR — Value chain development in Indian Agriculture</a:t>
            </a:r>
            <a:endParaRPr lang="en-US" sz="820" dirty="0"/>
          </a:p>
        </p:txBody>
      </p:sp>
      <p:sp>
        <p:nvSpPr>
          <p:cNvPr id="18" name="Text 15">
            <a:hlinkClick r:id="rId4"/>
          </p:cNvPr>
          <p:cNvSpPr/>
          <p:nvPr/>
        </p:nvSpPr>
        <p:spPr>
          <a:xfrm>
            <a:off x="713232" y="2523744"/>
            <a:ext cx="48920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epubs.icar.org.in/index.php/IndFarm/article/view/118471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530352" y="2871216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11430">
            <a:solidFill>
              <a:srgbClr val="2F5F88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7">
            <a:hlinkClick r:id="rId5"/>
          </p:cNvPr>
          <p:cNvSpPr/>
          <p:nvPr/>
        </p:nvSpPr>
        <p:spPr>
          <a:xfrm>
            <a:off x="713232" y="2962656"/>
            <a:ext cx="3931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ICAR — Impact of e-NAM on farmers</a:t>
            </a:r>
            <a:endParaRPr lang="en-US" sz="820" dirty="0"/>
          </a:p>
        </p:txBody>
      </p:sp>
      <p:sp>
        <p:nvSpPr>
          <p:cNvPr id="21" name="Text 18">
            <a:hlinkClick r:id="rId5"/>
          </p:cNvPr>
          <p:cNvSpPr/>
          <p:nvPr/>
        </p:nvSpPr>
        <p:spPr>
          <a:xfrm>
            <a:off x="713232" y="3145536"/>
            <a:ext cx="48920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epubs.icar.org.in/index.php/IJAgS/article/view/127701</a:t>
            </a:r>
            <a:endParaRPr lang="en-US" sz="550" dirty="0"/>
          </a:p>
        </p:txBody>
      </p:sp>
      <p:sp>
        <p:nvSpPr>
          <p:cNvPr id="22" name="Shape 19"/>
          <p:cNvSpPr/>
          <p:nvPr/>
        </p:nvSpPr>
        <p:spPr>
          <a:xfrm>
            <a:off x="530352" y="3493008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F4F9FC"/>
          </a:solidFill>
          <a:ln w="11430">
            <a:solidFill>
              <a:srgbClr val="2F5F88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0">
            <a:hlinkClick r:id="rId6"/>
          </p:cNvPr>
          <p:cNvSpPr/>
          <p:nvPr/>
        </p:nvSpPr>
        <p:spPr>
          <a:xfrm>
            <a:off x="713232" y="3584448"/>
            <a:ext cx="393192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eNAM — National Agriculture Market</a:t>
            </a:r>
            <a:endParaRPr lang="en-US" sz="82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713232" y="3767328"/>
            <a:ext cx="48920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enam.gov.in/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6236208" y="1280160"/>
            <a:ext cx="2788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8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REFERENCES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36208" y="1627632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4F9FC"/>
          </a:solidFill>
          <a:ln w="11430">
            <a:solidFill>
              <a:srgbClr val="168446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4">
            <a:hlinkClick r:id="rId7"/>
          </p:cNvPr>
          <p:cNvSpPr/>
          <p:nvPr/>
        </p:nvSpPr>
        <p:spPr>
          <a:xfrm>
            <a:off x="6382512" y="1746504"/>
            <a:ext cx="15087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</a:t>
            </a:r>
            <a:endParaRPr lang="en-US" sz="820" dirty="0"/>
          </a:p>
        </p:txBody>
      </p:sp>
      <p:sp>
        <p:nvSpPr>
          <p:cNvPr id="28" name="Text 25">
            <a:hlinkClick r:id="rId7"/>
          </p:cNvPr>
          <p:cNvSpPr/>
          <p:nvPr/>
        </p:nvSpPr>
        <p:spPr>
          <a:xfrm>
            <a:off x="6382512" y="1929384"/>
            <a:ext cx="1783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react.dev/</a:t>
            </a:r>
            <a:endParaRPr lang="en-US" sz="550" dirty="0"/>
          </a:p>
        </p:txBody>
      </p:sp>
      <p:sp>
        <p:nvSpPr>
          <p:cNvPr id="29" name="Shape 26"/>
          <p:cNvSpPr/>
          <p:nvPr/>
        </p:nvSpPr>
        <p:spPr>
          <a:xfrm>
            <a:off x="8842248" y="1627632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4F9FC"/>
          </a:solidFill>
          <a:ln w="11430">
            <a:solidFill>
              <a:srgbClr val="168446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Text 27">
            <a:hlinkClick r:id="rId8"/>
          </p:cNvPr>
          <p:cNvSpPr/>
          <p:nvPr/>
        </p:nvSpPr>
        <p:spPr>
          <a:xfrm>
            <a:off x="8988552" y="1746504"/>
            <a:ext cx="15087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endParaRPr lang="en-US" sz="820" dirty="0"/>
          </a:p>
        </p:txBody>
      </p:sp>
      <p:sp>
        <p:nvSpPr>
          <p:cNvPr id="31" name="Text 28">
            <a:hlinkClick r:id="rId8"/>
          </p:cNvPr>
          <p:cNvSpPr/>
          <p:nvPr/>
        </p:nvSpPr>
        <p:spPr>
          <a:xfrm>
            <a:off x="8988552" y="1929384"/>
            <a:ext cx="1783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scikit-learn.org/stable/user_guide.html</a:t>
            </a:r>
            <a:endParaRPr lang="en-US" sz="550" dirty="0"/>
          </a:p>
        </p:txBody>
      </p:sp>
      <p:sp>
        <p:nvSpPr>
          <p:cNvPr id="32" name="Shape 29"/>
          <p:cNvSpPr/>
          <p:nvPr/>
        </p:nvSpPr>
        <p:spPr>
          <a:xfrm>
            <a:off x="6236208" y="237744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4F9FC"/>
          </a:solidFill>
          <a:ln w="11430">
            <a:solidFill>
              <a:srgbClr val="168446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30">
            <a:hlinkClick r:id="rId9"/>
          </p:cNvPr>
          <p:cNvSpPr/>
          <p:nvPr/>
        </p:nvSpPr>
        <p:spPr>
          <a:xfrm>
            <a:off x="6382512" y="2496312"/>
            <a:ext cx="15087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</a:t>
            </a:r>
            <a:endParaRPr lang="en-US" sz="820" dirty="0"/>
          </a:p>
        </p:txBody>
      </p:sp>
      <p:sp>
        <p:nvSpPr>
          <p:cNvPr id="34" name="Text 31">
            <a:hlinkClick r:id="rId9"/>
          </p:cNvPr>
          <p:cNvSpPr/>
          <p:nvPr/>
        </p:nvSpPr>
        <p:spPr>
          <a:xfrm>
            <a:off x="6382512" y="2679192"/>
            <a:ext cx="1783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fastapi.tiangolo.com/</a:t>
            </a:r>
            <a:endParaRPr lang="en-US" sz="550" dirty="0"/>
          </a:p>
        </p:txBody>
      </p:sp>
      <p:sp>
        <p:nvSpPr>
          <p:cNvPr id="35" name="Shape 32"/>
          <p:cNvSpPr/>
          <p:nvPr/>
        </p:nvSpPr>
        <p:spPr>
          <a:xfrm>
            <a:off x="8842248" y="2377440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4F9FC"/>
          </a:solidFill>
          <a:ln w="11430">
            <a:solidFill>
              <a:srgbClr val="168446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Text 33">
            <a:hlinkClick r:id="rId10"/>
          </p:cNvPr>
          <p:cNvSpPr/>
          <p:nvPr/>
        </p:nvSpPr>
        <p:spPr>
          <a:xfrm>
            <a:off x="8988552" y="2496312"/>
            <a:ext cx="15087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Razorpay Payments</a:t>
            </a:r>
            <a:endParaRPr lang="en-US" sz="820" dirty="0"/>
          </a:p>
        </p:txBody>
      </p:sp>
      <p:sp>
        <p:nvSpPr>
          <p:cNvPr id="37" name="Text 34">
            <a:hlinkClick r:id="rId10"/>
          </p:cNvPr>
          <p:cNvSpPr/>
          <p:nvPr/>
        </p:nvSpPr>
        <p:spPr>
          <a:xfrm>
            <a:off x="8988552" y="2679192"/>
            <a:ext cx="1783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razorpay.com/docs/payments/</a:t>
            </a:r>
            <a:endParaRPr lang="en-US" sz="550" dirty="0"/>
          </a:p>
        </p:txBody>
      </p:sp>
      <p:sp>
        <p:nvSpPr>
          <p:cNvPr id="38" name="Shape 35"/>
          <p:cNvSpPr/>
          <p:nvPr/>
        </p:nvSpPr>
        <p:spPr>
          <a:xfrm>
            <a:off x="6236208" y="3127248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4F9FC"/>
          </a:solidFill>
          <a:ln w="11430">
            <a:solidFill>
              <a:srgbClr val="168446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Text 36">
            <a:hlinkClick r:id="rId11"/>
          </p:cNvPr>
          <p:cNvSpPr/>
          <p:nvPr/>
        </p:nvSpPr>
        <p:spPr>
          <a:xfrm>
            <a:off x="6382512" y="3246120"/>
            <a:ext cx="15087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PostgreSQL</a:t>
            </a:r>
            <a:endParaRPr lang="en-US" sz="820" dirty="0"/>
          </a:p>
        </p:txBody>
      </p:sp>
      <p:sp>
        <p:nvSpPr>
          <p:cNvPr id="40" name="Text 37">
            <a:hlinkClick r:id="rId11"/>
          </p:cNvPr>
          <p:cNvSpPr/>
          <p:nvPr/>
        </p:nvSpPr>
        <p:spPr>
          <a:xfrm>
            <a:off x="6382512" y="3429000"/>
            <a:ext cx="1783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www.postgresql.org/docs/</a:t>
            </a:r>
            <a:endParaRPr lang="en-US" sz="550" dirty="0"/>
          </a:p>
        </p:txBody>
      </p:sp>
      <p:sp>
        <p:nvSpPr>
          <p:cNvPr id="41" name="Shape 38"/>
          <p:cNvSpPr/>
          <p:nvPr/>
        </p:nvSpPr>
        <p:spPr>
          <a:xfrm>
            <a:off x="8842248" y="3127248"/>
            <a:ext cx="2148840" cy="502920"/>
          </a:xfrm>
          <a:prstGeom prst="roundRect">
            <a:avLst>
              <a:gd name="adj" fmla="val 10909"/>
            </a:avLst>
          </a:prstGeom>
          <a:solidFill>
            <a:srgbClr val="F4F9FC"/>
          </a:solidFill>
          <a:ln w="11430">
            <a:solidFill>
              <a:srgbClr val="168446"/>
            </a:solidFill>
            <a:prstDash val="solid"/>
          </a:ln>
          <a:effectLst>
            <a:outerShdw blurRad="12700" dist="508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Text 39">
            <a:hlinkClick r:id="rId12"/>
          </p:cNvPr>
          <p:cNvSpPr/>
          <p:nvPr/>
        </p:nvSpPr>
        <p:spPr>
          <a:xfrm>
            <a:off x="8988552" y="3246120"/>
            <a:ext cx="150876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20" u="sng" dirty="0">
                <a:solidFill>
                  <a:srgbClr val="0000E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OpenStreetMap</a:t>
            </a:r>
            <a:endParaRPr lang="en-US" sz="820" dirty="0"/>
          </a:p>
        </p:txBody>
      </p:sp>
      <p:sp>
        <p:nvSpPr>
          <p:cNvPr id="43" name="Text 40">
            <a:hlinkClick r:id="rId12"/>
          </p:cNvPr>
          <p:cNvSpPr/>
          <p:nvPr/>
        </p:nvSpPr>
        <p:spPr>
          <a:xfrm>
            <a:off x="8988552" y="3429000"/>
            <a:ext cx="17830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550" u="sng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www.openstreetmap.org/</a:t>
            </a:r>
            <a:endParaRPr lang="en-US" sz="550" dirty="0"/>
          </a:p>
        </p:txBody>
      </p:sp>
      <p:sp>
        <p:nvSpPr>
          <p:cNvPr id="44" name="Shape 41"/>
          <p:cNvSpPr/>
          <p:nvPr/>
        </p:nvSpPr>
        <p:spPr>
          <a:xfrm>
            <a:off x="530352" y="4818888"/>
            <a:ext cx="109270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2F5F88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786384" y="5074920"/>
            <a:ext cx="1645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/</a:t>
            </a:r>
            <a:endParaRPr lang="en-US" sz="920" dirty="0"/>
          </a:p>
          <a:p>
            <a:pPr marL="0" indent="0" algn="l">
              <a:buNone/>
            </a:pPr>
            <a:r>
              <a:rPr lang="en-US" sz="920" b="1" dirty="0">
                <a:solidFill>
                  <a:srgbClr val="0B3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920" dirty="0"/>
          </a:p>
        </p:txBody>
      </p:sp>
      <p:sp>
        <p:nvSpPr>
          <p:cNvPr id="46" name="Text 43"/>
          <p:cNvSpPr/>
          <p:nvPr/>
        </p:nvSpPr>
        <p:spPr>
          <a:xfrm>
            <a:off x="3429000" y="5120640"/>
            <a:ext cx="2514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Existing: digital trading + price information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6492240" y="5093208"/>
            <a:ext cx="228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8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7269480" y="5029200"/>
            <a:ext cx="3063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8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direct marketplace + AI pricing + trust score +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68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optimization</a:t>
            </a:r>
            <a:endParaRPr lang="en-US" sz="85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DE217FA-17D1-1D74-42BE-AAE8C4397CF6}"/>
              </a:ext>
            </a:extLst>
          </p:cNvPr>
          <p:cNvGrpSpPr/>
          <p:nvPr/>
        </p:nvGrpSpPr>
        <p:grpSpPr>
          <a:xfrm>
            <a:off x="82381" y="-5371"/>
            <a:ext cx="1709722" cy="494687"/>
            <a:chOff x="82381" y="-5371"/>
            <a:chExt cx="1709722" cy="494687"/>
          </a:xfrm>
        </p:grpSpPr>
        <p:sp>
          <p:nvSpPr>
            <p:cNvPr id="51" name="Text 1">
              <a:extLst>
                <a:ext uri="{FF2B5EF4-FFF2-40B4-BE49-F238E27FC236}">
                  <a16:creationId xmlns:a16="http://schemas.microsoft.com/office/drawing/2014/main" id="{0FA4EE73-FC9D-9B6F-F31E-5AABEFA3697D}"/>
                </a:ext>
              </a:extLst>
            </p:cNvPr>
            <p:cNvSpPr/>
            <p:nvPr/>
          </p:nvSpPr>
          <p:spPr>
            <a:xfrm>
              <a:off x="269288" y="-5371"/>
              <a:ext cx="1322976" cy="479359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0B3F6B"/>
                  </a:solidFill>
                  <a:latin typeface="Times New Roman"/>
                  <a:cs typeface="Times New Roman"/>
                </a:rPr>
                <a:t>SINISTERSIX</a:t>
              </a:r>
              <a:endParaRPr lang="en-US" sz="1400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CE95E12-FCD4-6220-7EE1-AD1274009264}"/>
                </a:ext>
              </a:extLst>
            </p:cNvPr>
            <p:cNvSpPr/>
            <p:nvPr/>
          </p:nvSpPr>
          <p:spPr>
            <a:xfrm>
              <a:off x="82381" y="670"/>
              <a:ext cx="1709722" cy="48864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35F6B6B-04F2-8146-B712-B2A8306D6AE1}"/>
              </a:ext>
            </a:extLst>
          </p:cNvPr>
          <p:cNvGrpSpPr/>
          <p:nvPr/>
        </p:nvGrpSpPr>
        <p:grpSpPr>
          <a:xfrm>
            <a:off x="9700000" y="176686"/>
            <a:ext cx="2628295" cy="729488"/>
            <a:chOff x="9857232" y="164592"/>
            <a:chExt cx="1600200" cy="475488"/>
          </a:xfrm>
        </p:grpSpPr>
        <p:pic>
          <p:nvPicPr>
            <p:cNvPr id="55" name="Image 0" descr="/mnt/data/sih_top_icon.png">
              <a:extLst>
                <a:ext uri="{FF2B5EF4-FFF2-40B4-BE49-F238E27FC236}">
                  <a16:creationId xmlns:a16="http://schemas.microsoft.com/office/drawing/2014/main" id="{896857CC-495F-B815-5228-BF0FB3D23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857232" y="164592"/>
              <a:ext cx="475488" cy="475488"/>
            </a:xfrm>
            <a:prstGeom prst="rect">
              <a:avLst/>
            </a:prstGeom>
          </p:spPr>
        </p:pic>
        <p:sp>
          <p:nvSpPr>
            <p:cNvPr id="56" name="Text 2">
              <a:extLst>
                <a:ext uri="{FF2B5EF4-FFF2-40B4-BE49-F238E27FC236}">
                  <a16:creationId xmlns:a16="http://schemas.microsoft.com/office/drawing/2014/main" id="{D0B66732-D6C8-3578-53E9-FC5DA96BBE12}"/>
                </a:ext>
              </a:extLst>
            </p:cNvPr>
            <p:cNvSpPr/>
            <p:nvPr/>
          </p:nvSpPr>
          <p:spPr>
            <a:xfrm>
              <a:off x="10405872" y="173736"/>
              <a:ext cx="1051560" cy="4572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SMART INDIA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HACKATHON</a:t>
              </a:r>
              <a:endParaRPr lang="en-US" sz="1600" dirty="0"/>
            </a:p>
            <a:p>
              <a:pPr marL="0" indent="0" algn="l">
                <a:lnSpc>
                  <a:spcPct val="80000"/>
                </a:lnSpc>
                <a:buNone/>
              </a:pPr>
              <a:r>
                <a:rPr lang="en-US" sz="1600" b="1" dirty="0">
                  <a:solidFill>
                    <a:srgbClr val="60606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2026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SINISTER6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 Farmer-to-Consumer Digital Agri-Marketplace</dc:title>
  <dc:subject>SIH 2026 AgriMarketplace</dc:subject>
  <dc:creator>Team SINISTER6</dc:creator>
  <cp:lastModifiedBy>Sahibjeet pal Singh</cp:lastModifiedBy>
  <cp:revision>544</cp:revision>
  <dcterms:created xsi:type="dcterms:W3CDTF">2026-08-31T08:50:05Z</dcterms:created>
  <dcterms:modified xsi:type="dcterms:W3CDTF">2026-08-31T13:14:28Z</dcterms:modified>
</cp:coreProperties>
</file>